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نسبة التحسّن</c:v>
                </c:pt>
              </c:strCache>
            </c:strRef>
          </c:tx>
          <c:dPt>
            <c:idx val="0"/>
            <c:spPr>
              <a:solidFill>
                <a:srgbClr val="49D3BC"/>
              </a:solidFill>
              <a:ln>
                <a:noFill/>
              </a:ln>
            </c:spPr>
          </c:dPt>
          <c:dPt>
            <c:idx val="1"/>
            <c:spPr>
              <a:solidFill>
                <a:srgbClr val="142633"/>
              </a:solidFill>
              <a:ln>
                <a:noFill/>
              </a:ln>
            </c:spPr>
          </c:dPt>
          <c:cat>
            <c:strRef>
              <c:f>Sheet1!$A$2:$A$3</c:f>
              <c:strCache>
                <c:ptCount val="2"/>
                <c:pt idx="0">
                  <c:v>الضغط</c:v>
                </c:pt>
                <c:pt idx="1">
                  <c:v>العقلة</c:v>
                </c:pt>
              </c:strCache>
            </c:strRef>
          </c:cat>
          <c:val>
            <c:numRef>
              <c:f>Sheet1!$B$2:$B$3</c:f>
              <c:numCache>
                <c:formatCode>General</c:formatCode>
                <c:ptCount val="2"/>
                <c:pt idx="0">
                  <c:v>16.4</c:v>
                </c:pt>
                <c:pt idx="1">
                  <c:v>39.2</c:v>
                </c:pt>
              </c:numCache>
            </c:numRef>
          </c:val>
        </c:ser>
        <c:dLbls>
          <c:numFmt formatCode="0.0&quot;%&quot;" sourceLinked="0"/>
          <c:txPr>
            <a:bodyPr/>
            <a:lstStyle/>
            <a:p>
              <a:pPr>
                <a:defRPr sz="1900" b="1">
                  <a:solidFill>
                    <a:srgbClr val="142633"/>
                  </a:solidFill>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l"/>
        <c:majorTickMark val="none"/>
        <c:minorTickMark val="none"/>
        <c:tickLblPos val="nextTo"/>
        <c:txPr>
          <a:bodyPr/>
          <a:lstStyle/>
          <a:p>
            <a:pPr>
              <a:defRPr sz="1900">
                <a:solidFill>
                  <a:srgbClr val="142633"/>
                </a:solidFill>
                <a:latin typeface="Arial"/>
              </a:defRPr>
            </a:pPr>
          </a:p>
        </c:txPr>
        <c:crossAx val="-2113994440"/>
        <c:crosses val="autoZero"/>
        <c:auto val="1"/>
        <c:lblAlgn val="ctr"/>
        <c:lblOffset val="100"/>
        <c:noMultiLvlLbl val="0"/>
      </c:catAx>
      <c:valAx>
        <c:axId val="-2113994440"/>
        <c:scaling>
          <c:max val="50.0"/>
          <c:min val="0.0"/>
        </c:scaling>
        <c:delete val="0"/>
        <c:axPos val="b"/>
        <c:majorGridlines/>
        <c:numFmt formatCode="0&quot;%&quot;" sourceLinked="0"/>
        <c:majorTickMark val="none"/>
        <c:minorTickMark val="none"/>
        <c:tickLblPos val="nextTo"/>
        <c:txPr>
          <a:bodyPr/>
          <a:lstStyle/>
          <a:p>
            <a:pPr>
              <a:defRPr sz="1200">
                <a:solidFill>
                  <a:srgbClr val="536975"/>
                </a:solidFill>
                <a:latin typeface="Arial"/>
              </a:defRPr>
            </a:pPr>
          </a:p>
        </c:txPr>
        <c:crossAx val="-2068027336"/>
        <c:crosses val="autoZero"/>
        <c:majorUnit val="1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ابدأ بسؤال: هل يحتاج بناء القوة إلى أجهزة كثيرة؟ قدّم الكاليسثنيكس بوصفه تدريب مقاومة يعتمد أساسًا على وزن الجسم، وليس مجرد حركات استعراضية. يربط العرض بين فهم الحركة، اختيار مستوى مناسب، بناء خطة، وقياس التحسن. المحتوى تثقيفي عام للبالغين الأصحاء، وليس وصفة علاجية أو برنامجًا فرديًا. استبدل حقل الاسم باسم مقدم العرض قبل التقديم. امنح العرض نحو عشرين إلى خمس وعشرين دقيقة مع وقت إضافي للنقاش.</a:t>
            </a:r>
          </a:p>
          <a:p>
            <a:pPr rtl="1"/>
          </a:p>
          <a:p>
            <a:pPr rtl="1"/>
            <a:r>
              <a:t>الصورة أو الرسم: صورة واقعية لرياضي يؤدي تمرين الضغط على قضبان متوازية، مع مساحة داكنة للعنوان.</a:t>
            </a:r>
          </a:p>
          <a:p>
            <a:pPr rtl="1"/>
            <a:r>
              <a:t>الإنفوغرافيك: تركيب تحريري: صورة نصفية وثلاث كلمات محورية.</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اشرح أن المصطلح يرتبط لغويًا بالجمال والقوة، وأن تمارين وزن الجسم أقدم من انتشار رياضة الشارع الحديثة. لا تعني الكاليسثنيكس التدريب خارج الصالة حصرًا؛ يمكن ممارستها في المنزل أو النادي. تتقاطع مع الجمباز وتمارين الشارع، لكنها ليست مرادفًا لكل منهما. بعض الممارسين يركزون على التكرارات، وبعضهم على الثبات، وغيرهم على الأداء الديناميكي. لا يحتاج المبتدئ إلى الأسلوب الحر ليحصل على فوائد تدريبية، والصورة توضيحية وليست تعليمًا تقنيًا كاملاً.</a:t>
            </a:r>
          </a:p>
          <a:p>
            <a:pPr rtl="1"/>
          </a:p>
          <a:p>
            <a:pPr rtl="1"/>
            <a:r>
              <a:t>الصورة أو الرسم: صورة تدريب على العقلة في الهواء الطلق.</a:t>
            </a:r>
          </a:p>
          <a:p>
            <a:pPr rtl="1"/>
            <a:r>
              <a:t>الإنفوغرافيك: ثلاث بطاقات تصنيف: الأساسيات ← الثبات ← الأسلوب الحر؛ تصنيف لا تسلسل إلزامي.</a:t>
            </a:r>
          </a:p>
          <a:p>
            <a:pPr rtl="1"/>
          </a:p>
          <a:p>
            <a:pPr rtl="1"/>
            <a:r>
              <a:t>المصادر:</a:t>
            </a:r>
          </a:p>
          <a:p>
            <a:pPr rtl="1"/>
            <a:r>
              <a:t>https://www.sensormedica.com/en/document/the-effects-of-a-calisthenics-training-intervention-on-posture/</a:t>
            </a:r>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بيّن أن تمرين وزن الجسم ليس ذا حمل ثابت عمليًا؛ زاوية الجسم وطول الرافعة ونقاط الارتكاز تغيّر صعوبته. التكرار الجيد يحافظ على السيطرة ضمن مدى مناسب دون ألم. إذا أمكن أداء نسختك بسهولة مع تقنية ثابتة، يمكن زيادة تكرار أو مجموعة أو اختيار رافعة أصعب. غيّر متغيرًا واحدًا في كل مرة. تعني تكراران احتياطيان التوقف حين تعتقد أنك تستطيع أداء تكرارين جيدين إضافيين. سلم الضغط مثال تعليمي، وليس اختبارًا موحدًا للجميع.</a:t>
            </a:r>
          </a:p>
          <a:p>
            <a:pPr rtl="1"/>
          </a:p>
          <a:p>
            <a:pPr rtl="1"/>
            <a:r>
              <a:t>الصورة أو الرسم: رسم متدرج لنسخ تمرين الضغط بدل صور متشابهة.</a:t>
            </a:r>
          </a:p>
          <a:p>
            <a:pPr rtl="1"/>
            <a:r>
              <a:t>الإنفوغرافيك: سُلّم تقدم قابل للتحرير: ضغط على الحائط ← سطح مرتفع ← الأرض ← رفع القدمين.</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اربط سهولة الوصول بالاستمرارية، لا بفكرة أن التدريب مجاني أو مناسب تلقائيًا لكل شخص. العقلة الآمنة أو الحلقات قد تكون مفيدة، لكن يمكن البدء بحركات أرضية مناسبة. توصي منظمة الصحة العالمية البالغين بتقوية المجموعات العضلية الرئيسية يومين أو أكثر أسبوعيًا، مع 150 إلى 300 دقيقة هوائية معتدلة، أو 75 إلى 150 دقيقة شديدة، أو مزيج مكافئ. لا نفترض أن حصة قوة قصيرة تغطي الاحتياج الهوائي. الفوائد الصحية العامة تخص النشاط البدني، ولا ينبغي نسبتها حصريًا للكاليـسثنيكس.</a:t>
            </a:r>
          </a:p>
          <a:p>
            <a:pPr rtl="1"/>
          </a:p>
          <a:p>
            <a:pPr rtl="1"/>
            <a:r>
              <a:t>الصورة أو الرسم: صورة واقعية لنسخة ميسّرة من الضغط على قضيب مرتفع.</a:t>
            </a:r>
          </a:p>
          <a:p>
            <a:pPr rtl="1"/>
            <a:r>
              <a:t>الإنفوغرافيك: بطاقتا أرقام لتوصيات منظمة الصحة العالمية؛ لا تمثلان نتائج الكاليسثنيكس.</a:t>
            </a:r>
          </a:p>
          <a:p>
            <a:pPr rtl="1"/>
          </a:p>
          <a:p>
            <a:pPr rtl="1"/>
            <a:r>
              <a:t>المصادر:</a:t>
            </a:r>
          </a:p>
          <a:p>
            <a:pPr rtl="1"/>
            <a:r>
              <a:t>https://www.who.int/publications/i/item/9789240015128</a:t>
            </a:r>
          </a:p>
          <a:p>
            <a:pPr rtl="1"/>
            <a:r>
              <a:t>https://www.who.int/news-room/fact-sheets/detail/physical-activity</a:t>
            </a:r>
          </a:p>
          <a:p>
            <a:pPr rtl="1"/>
            <a:r>
              <a:t>https://www.sensormedica.com/en/document/the-effects-of-a-calisthenics-training-intervention-on-posture/</a:t>
            </a:r>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ميّز بين هدف النتيجة وهدف السلوك. قد يرغب شخص في أول عقلة، لكن النتيجة تعتمد على نقطة البداية ووزن الجسم وخبرته؛ أما الالتزام بحصتين فيمكن تخطيطه مباشرة. يختار المبتدئ هدفًا أساسيًا واحدًا، مثل تحسين قوة الدفع مع بناء توازن بين الدفع والسحب والرجلين. يفضّل البدء بأدوات قليلة وموثوقة بدل شراء تجهيزات كثيرة. لا تستخدم أبوابًا أو طاولات أو قضبانًا غير مصممة لتحمل الجسم. هدف الأسابيع الثمانية مثال تنظيمي، وليس وعدًا بمهارة محددة.</a:t>
            </a:r>
          </a:p>
          <a:p>
            <a:pPr rtl="1"/>
          </a:p>
          <a:p>
            <a:pPr rtl="1"/>
            <a:r>
              <a:t>الصورة أو الرسم: صورة ضغط على قضبان مع ثلاث بطاقات أهداف.</a:t>
            </a:r>
          </a:p>
          <a:p>
            <a:pPr rtl="1"/>
            <a:r>
              <a:t>الإنفوغرافيك: ثلاث بطاقات هدف + شريط لصياغة هدف قابل للقياس (SMART).</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هذه عوائق تعليمية شائعة وليست نتائج مسح إحصائي. اطلب من الجمهور تحديد العائق الأكثر قربًا من تجربته. ليست كل مشكلة بطءٍ في التحسن نقصًا في الجهد؛ فقد تكون النسخة أصعب من اللازم أو الحمل أكبر من التعافي. يُهمل السحب أحيانًا عند التدريب المنزلي لغياب تجهيز آمن، فلا نعوض ذلك بسحب من أثاث غير ثابت. لا حاجة إلى الوصول للعجز العضلي في كل مجموعة. سجّل التمرين ونسخته وتكراراته والتعب وأي ألم لتحديد تعديل معقول.</a:t>
            </a:r>
          </a:p>
          <a:p>
            <a:pPr rtl="1"/>
          </a:p>
          <a:p>
            <a:pPr rtl="1"/>
            <a:r>
              <a:t>الصورة أو الرسم: مصفوفة تشخيصية بدل صورة مشتتة؛ أسهم تربط العائق بالاستجابة.</a:t>
            </a:r>
          </a:p>
          <a:p>
            <a:pPr rtl="1"/>
            <a:r>
              <a:t>الإنفوغرافيك: جدول من عمودين: عائق شائع / استجابة عملية.</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غطِّ أنماط الحركة بدل جمع تمارين عشوائية. في الضغط حافظ على اتساق الجذع واختر ارتفاعًا يسهل التحكم. في السحب تجنب الاندفاع، واضبط الكتفين ضمن مدى مريح. في القرفصاء والاندفاع استخدم مدى يسمح بالاتزان والتحكم بالركبتين. لا تهمل الرجلين والورك بسبب التركيز على الجزء العلوي. يمكن زيادة صعوبة الرجلين تدريجيًا عبر العمل أحادي الطرف أو مقاومة إضافية. المهارات المتقدمة ليست جزءًا إلزاميًا من حصة المبتدئ؛ تحتاج إعدادًا خاصًا للرسغ والكتف وتقنية وتعافيًا كافيين.</a:t>
            </a:r>
          </a:p>
          <a:p>
            <a:pPr rtl="1"/>
          </a:p>
          <a:p>
            <a:pPr rtl="1"/>
            <a:r>
              <a:t>الصورة أو الرسم: جدول واضح يقابل أنماط الحركة بأمثلة وملاحظات تقنية.</a:t>
            </a:r>
          </a:p>
          <a:p>
            <a:pPr rtl="1"/>
            <a:r>
              <a:t>الإنفوغرافيك: مصفوفة حركات من خمسة صفوف مع شريط منفصل للمهارات المتقدمة.</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الحالة الأولى لشخص مبتدئ لا يستطيع ضغطًا أرضيًا نظيفًا؛ نرفع سطح الارتكاز إلى مستوى يسمح بتكرارات مضبوطة، ونضيف سحبًا فقط من جهاز ثابت. حين يبلغ أعلى النطاق بجودة في حصتين متتاليتين، يمكن خفض السطح قليلًا. الحالة الثانية لممارس يمتلك أساسًا جيدًا؛ يختار مهارة واحدة مثل الوقوف على اليدين، ويتعلم الدخول والخروج الآمنين مع مدرب عند الحاجة. تتقدم المهارة حين توجد سيطرة لا بمجرد مرور الأيام. لا تُنفذ محاولات انقلاب أو أسلوب حر دون تأهيل ومساحة آمنة.</a:t>
            </a:r>
          </a:p>
          <a:p>
            <a:pPr rtl="1"/>
          </a:p>
          <a:p>
            <a:pPr rtl="1"/>
            <a:r>
              <a:t>الصورة أو الرسم: صورة النسخة الميسّرة من الضغط إلى جانب مساري التدريب.</a:t>
            </a:r>
          </a:p>
          <a:p>
            <a:pPr rtl="1"/>
            <a:r>
              <a:t>الإنفوغرافيك: مساران متوازيان: مستوى البداية / التدرّج / معيار القرار.</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اعرض هذه الأرقام بوصفها نتائج دراسة محددة لا توقعات شخصية. شملت الدراسة 28 رجلًا غير مدرب موزعين على مجموعتي تدريب وضبط؛ هذا العدد ليس حجم مجموعة التدريب وحدها. استمر التدخل ثمانية أسابيع. تحسّن أداء اختباري الضغط والعقلة في مجموعة التدريب بنسبة 16.4 و39.2 بالمئة على الترتيب. تقيس النسب تغير الأداء في الاختبار ولا تعني زيادة الكتلة العضلية بهذه النسب. لم تظهر مجموعة الضبط فروقًا دالة في المتغيرات المقاسة. تحد العينة الصغيرة والجنس الواحد والمدة القصيرة من التعميم.</a:t>
            </a:r>
          </a:p>
          <a:p>
            <a:pPr rtl="1"/>
          </a:p>
          <a:p>
            <a:pPr rtl="1"/>
            <a:r>
              <a:t>الصورة أو الرسم: مخطط أعمدة أفقي أصلي قابل للتحرير، مع بطاقات حجم العينة والمدة.</a:t>
            </a:r>
          </a:p>
          <a:p>
            <a:pPr rtl="1"/>
            <a:r>
              <a:t>الإنفوغرافيك: عمودان: نسبة تحسن أداء اختبار الضغط والعقلة؛ محور يبدأ من الصفر.</a:t>
            </a:r>
          </a:p>
          <a:p>
            <a:pPr rtl="1"/>
          </a:p>
          <a:p>
            <a:pPr rtl="1"/>
            <a:r>
              <a:t>المصادر:</a:t>
            </a:r>
          </a:p>
          <a:p>
            <a:pPr rtl="1"/>
            <a:r>
              <a:t>https://www.sensormedica.com/en/document/the-effects-of-a-calisthenics-training-intervention-on-posture/</a:t>
            </a:r>
          </a:p>
          <a:p>
            <a:pPr rtl="1"/>
            <a:r>
              <a:t>https://www.sensormedica.com/wp-content/uploads/2022/03/The-effects-of-a-calisthenics-training-intervention-on-posture.pdf</a:t>
            </a:r>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الإحماء تحضير وليس ضمانًا لمنع الإصابات. ابدأ بنشاط خفيف وتحريك المفاصل المطلوبة ثم مجموعات أسهل من التمرين الأساسي. امنح العضلات المستهدفة عادة يوم راحة بين حصص البداية، وعدّل ذلك بحسب التعافي. احرص على كفاية الطعام والبروتين من مصادر متنوعة، فالمكملات ليست شرطًا، وتغير الدهون يعتمد على توازن الطاقة وعوامل أخرى. تعب العضلة يختلف عن الألم الحاد بالمفصل. أوقف النشاط عند الألم الحاد أو الدوار؛ ألم الصدر أو ضيق النفس غير المعتاد يستدعي تقييمًا عاجلًا. عند مرض مزمن أو إصابة قائمة، اطلب توجيهًا فرديًا من مختص.</a:t>
            </a:r>
          </a:p>
          <a:p>
            <a:pPr rtl="1"/>
          </a:p>
          <a:p>
            <a:pPr rtl="1"/>
            <a:r>
              <a:t>الصورة أو الرسم: صورة تدريب واقعية مع أربع بطاقات وقاية وشريط تنبيه.</a:t>
            </a:r>
          </a:p>
          <a:p>
            <a:pPr rtl="1"/>
            <a:r>
              <a:t>الإنفوغرافيك: أربع ركائز: الاستعداد / جودة الحركة / التعافي / التغذية.</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الخطة مثال عام لبالغ سليم مبتدئ وليست بروتوكول الدراسة السابقة. يمكن اختيار السبت والثلاثاء أو أي يومين يفصل بينهما يوم راحة على الأقل. ابدأ بإحماء من خمس إلى عشر دقائق تقريبًا. اختر نسخًا تترك تكرارين إلى ثلاثة احتياطيين؛ خفّض التكرارات أو اكتفِ بمجموعة واحدة إذا لزم. في أول أسبوعين تعلّم، ثم ثبّت التقنية في الثالث والرابع. في الخامس والسادس، إذا بلغت أعلى النطاق في كل المجموعات بجودة خلال حصتين، زد صعوبة متغير واحد وأعد التكرارات إلى الحد الأدنى. في السابع والثامن قارن الأداء في نفس الظروف. أضف المشي أو نشاطًا هوائيًا مناسبًا خارج حصص القوة، وخفّض الحمل عند التعب المستمر.</a:t>
            </a:r>
          </a:p>
          <a:p>
            <a:pPr rtl="1"/>
          </a:p>
          <a:p>
            <a:pPr rtl="1"/>
            <a:r>
              <a:t>الصورة أو الرسم: جدول جرعات تدريبي مع خط زمني لأربع مراحل.</a:t>
            </a:r>
          </a:p>
          <a:p>
            <a:pPr rtl="1"/>
            <a:r>
              <a:t>الإنفوغرافيك: جدول تمارين + Timeline: تعلّم 1–2 / تثبيت 3–4 / تقدّم 5–6 / تقييم 7–8.</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اجعل التقييم قابلاً للمقارنة: نفس نسخة التمرين ومداه ومدة الراحة تقريبًا. إذا تغيّرت النسخة دوّن ذلك، لأن عشرة تكرارات مائلة لا تعادل عشرة أرضية. سجّل عدد الحصص المكتملة، وأفضل مجموعة سليمة دون إجبار على أقصى جهد، ومدة ثبات جيدة إن استُخدمت. يمكن للمبتدئ أن يلاحظ تحكمًا أفضل قبل تغير الشكل، ولا توجد مهلة مضمونة لأول عقلة أو مهارة. الخانات الفارغة نموذج لتعبئة بيانات حقيقية وليست بيانات مفقودة من دراسة. الألم المتكرر إشارة للمراجعة لا مؤشرًا على النجاح.</a:t>
            </a:r>
          </a:p>
          <a:p>
            <a:pPr rtl="1"/>
          </a:p>
          <a:p>
            <a:pPr rtl="1"/>
            <a:r>
              <a:t>الصورة أو الرسم: لوحة متابعة فارغة مقصودة حتى لا تُقدَّم أرقام افتراضية كنتائج.</a:t>
            </a:r>
          </a:p>
          <a:p>
            <a:pPr rtl="1"/>
            <a:r>
              <a:t>الإنفوغرافيك: جدول متابعة: خط الأساس / الأسبوع 4 / الأسبوع 8، مع مؤشرات أداء.</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اختصر الرسالة في أن الكاليسثنيكس وسيلة مرنة لبناء قدرات الجسم وليست منافسة مع الآخرين. المهارة المتقدمة اختيار لاحق، والأساس هو تدريب متوازن تستطيع الاستمرار عليه. ليست هناك ضرورة للاختيار الحصري بين الكاليسثنيكس والأوزان؛ يمكن الجمع بينهما وفق الأهداف والأدوات. اطلب من كل مستمع اختيار تمرين دفع وسحب ورجلين وجذع مناسب، ثم موعد حصتين. ذكّر بأن جودة الحركة والتعافي والتدرج شروط عملية أهم من عدد الحركات المنشورة على وسائل التواصل.</a:t>
            </a:r>
          </a:p>
          <a:p>
            <a:pPr rtl="1"/>
          </a:p>
          <a:p>
            <a:pPr rtl="1"/>
            <a:r>
              <a:t>الصورة أو الرسم: صورة ضغط مع ثلاث كلمات كبيرة: إتقان / توازن / استمرارية.</a:t>
            </a:r>
          </a:p>
          <a:p>
            <a:pPr rtl="1"/>
            <a:r>
              <a:t>الإنفوغرافيك: مسار دائري مفاهيمي: تدريب ← تعافٍ ← قياس ← تعديل.</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امنح الجمهور دقيقة للتفكير قبل استقبال الأسئلة. من الأسئلة المتوقعة: هل يمكن بناء العضلات؟ نعم يمكن لتدريب المقاومة المناسب دعم ذلك مع التغذية والتعافي، ولا تكون كل الحركات كافية لكل هدف. هل يجب التدريب يوميًا؟ ليس مطلوبًا للمبتدئ؛ حصتان منظمتان بداية قابلة للاستمرار. ماذا أفعل إذا لم أستطع العقلة؟ اختر سحبًا أسهل من تجهيز آمن أو عقلة بمساعدة مناسبة. تجنب تشخيص آلام الحضور أو وصف تأهيل علاجي علنيًا، ووجّه الحالات الفردية إلى مختص.</a:t>
            </a:r>
          </a:p>
          <a:p>
            <a:pPr rtl="1"/>
          </a:p>
          <a:p>
            <a:pPr rtl="1"/>
            <a:r>
              <a:t>الصورة أو الرسم: صورة هادئة من مساحة التدريب مع علامة استفهام هندسية كبيرة.</a:t>
            </a:r>
          </a:p>
          <a:p>
            <a:pPr rtl="1"/>
            <a:r>
              <a:t>الإنفوغرافيك: ثلاث بطاقات أسئلة؛ لا حاجة إلى مخطط بيانات.</a:t>
            </a:r>
          </a:p>
          <a:p>
            <a:pPr rtl="1"/>
          </a:p>
          <a:p>
            <a:pPr rtl="1"/>
            <a:r>
              <a:t>المصادر:</a:t>
            </a:r>
          </a:p>
          <a:p>
            <a:pPr rtl="1"/>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rtl="1"/>
            <a:r>
              <a:t>اشكر الحضور وادعهم للعودة إلى خطة البداية بدل محاولة تقليد المهارات الصعبة مباشرة. تضم ملاحظات الشرائح وروابط دليل العرض مصادر الأرقام والإرشادات والصور. المرجع البحثي هو The effects of a calisthenics training intervention on posture, strength and body composition، المنشور في Isokinetics and Exercise Science عام 2017، المجلد 25، الصفحات 215–222. خطة الأسابيع الثمانية صياغة تعليمية مستقلة وليست إعادة إنتاج للتدخل البحثي. راجع شروط استخدام الصور لدى المصدر عند إعادة توزيع العرض تجاريًا.</a:t>
            </a:r>
          </a:p>
          <a:p>
            <a:pPr rtl="1"/>
          </a:p>
          <a:p>
            <a:pPr rtl="1"/>
            <a:r>
              <a:t>الصورة أو الرسم: صورة ختامية متناسقة مع الغلاف ومساحة واضحة لكلمة شكرًا.</a:t>
            </a:r>
          </a:p>
          <a:p>
            <a:pPr rtl="1"/>
            <a:r>
              <a:t>الإنفوغرافيك: خاتمة تحريرية مع مراجع مختارة وروابط قابلة للنقر.</a:t>
            </a:r>
          </a:p>
          <a:p>
            <a:pPr rtl="1"/>
          </a:p>
          <a:p>
            <a:pPr rtl="1"/>
            <a:r>
              <a:t>المصادر:</a:t>
            </a:r>
          </a:p>
          <a:p>
            <a:pPr rtl="1"/>
            <a:r>
              <a:t>https://www.who.int/publications/i/item/9789240015128</a:t>
            </a:r>
          </a:p>
          <a:p>
            <a:pPr rtl="1"/>
            <a:r>
              <a:t>https://www.who.int/news-room/fact-sheets/detail/physical-activity</a:t>
            </a:r>
          </a:p>
          <a:p>
            <a:pPr rtl="1"/>
            <a:r>
              <a:t>https://www.sensormedica.com/en/document/the-effects-of-a-calisthenics-training-intervention-on-posture/</a:t>
            </a:r>
          </a:p>
          <a:p>
            <a:pPr rtl="1"/>
            <a:r>
              <a:t>https://www.sensormedica.com/wp-content/uploads/2022/03/The-effects-of-a-calisthenics-training-intervention-on-posture.pdf</a:t>
            </a:r>
          </a:p>
          <a:p>
            <a:pPr rtl="1"/>
          </a:p>
          <a:p>
            <a:pPr rtl="1"/>
            <a:r>
              <a:t>مصادر الصور: https://www.pexels.com/photo/10021267/ | https://www.pexels.com/photo/8455862/ | https://www.pexels.com/photo/4803700/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www.who.int/publications/i/item/9789240015128" TargetMode="External"/><Relationship Id="rId4" Type="http://schemas.openxmlformats.org/officeDocument/2006/relationships/hyperlink" Target="https://www.sensormedica.com/en/document/the-effects-of-a-calisthenics-training-intervention-on-posture/" TargetMode="External"/><Relationship Id="rId5"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دليل شامل • من البداية إلى المهارة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01 / 15</a:t>
            </a:r>
          </a:p>
        </p:txBody>
      </p:sp>
      <p:sp>
        <p:nvSpPr>
          <p:cNvPr id="8" name="Rectangle 7"/>
          <p:cNvSpPr/>
          <p:nvPr/>
        </p:nvSpPr>
        <p:spPr>
          <a:xfrm>
            <a:off x="548640" y="6803136"/>
            <a:ext cx="737616"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ushup.jpg"/>
          <p:cNvPicPr>
            <a:picLocks noChangeAspect="1"/>
          </p:cNvPicPr>
          <p:nvPr/>
        </p:nvPicPr>
        <p:blipFill>
          <a:blip r:embed="rId2"/>
          <a:srcRect t="5316" b="5316"/>
          <a:stretch>
            <a:fillRect/>
          </a:stretch>
        </p:blipFill>
        <p:spPr>
          <a:xfrm>
            <a:off x="0" y="0"/>
            <a:ext cx="4754880" cy="6382512"/>
          </a:xfrm>
          <a:prstGeom prst="rect">
            <a:avLst/>
          </a:prstGeom>
        </p:spPr>
      </p:pic>
      <p:sp>
        <p:nvSpPr>
          <p:cNvPr id="10" name="Rectangle 9"/>
          <p:cNvSpPr/>
          <p:nvPr/>
        </p:nvSpPr>
        <p:spPr>
          <a:xfrm>
            <a:off x="4754880" y="0"/>
            <a:ext cx="64008" cy="6382512"/>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1389888"/>
            <a:ext cx="6172200" cy="411480"/>
          </a:xfrm>
          <a:prstGeom prst="rect">
            <a:avLst/>
          </a:prstGeom>
          <a:noFill/>
        </p:spPr>
        <p:txBody>
          <a:bodyPr wrap="square" lIns="25400" rIns="25400" tIns="12700" bIns="12700">
            <a:spAutoFit/>
          </a:bodyPr>
          <a:lstStyle/>
          <a:p>
            <a:pPr algn="r" rtl="0">
              <a:spcAft>
                <a:spcPts val="400"/>
              </a:spcAft>
            </a:pPr>
            <a:r>
              <a:rPr sz="1300" b="1" lang="en-US">
                <a:solidFill>
                  <a:srgbClr val="49D3BC"/>
                </a:solidFill>
                <a:latin typeface="Arial"/>
                <a:cs typeface="Arial"/>
                <a:ea typeface="Arial"/>
              </a:rPr>
              <a:t>BODYWEIGHT  /  STRENGTH  /  CONTROL</a:t>
            </a:r>
          </a:p>
        </p:txBody>
      </p:sp>
      <p:sp>
        <p:nvSpPr>
          <p:cNvPr id="12" name="TextBox 11"/>
          <p:cNvSpPr txBox="1"/>
          <p:nvPr/>
        </p:nvSpPr>
        <p:spPr>
          <a:xfrm>
            <a:off x="5303520" y="2039112"/>
            <a:ext cx="6217920" cy="914400"/>
          </a:xfrm>
          <a:prstGeom prst="rect">
            <a:avLst/>
          </a:prstGeom>
          <a:noFill/>
        </p:spPr>
        <p:txBody>
          <a:bodyPr wrap="square" lIns="25400" rIns="25400" tIns="12700" bIns="12700">
            <a:spAutoFit/>
          </a:bodyPr>
          <a:lstStyle/>
          <a:p>
            <a:pPr algn="r" rtl="1">
              <a:spcAft>
                <a:spcPts val="400"/>
              </a:spcAft>
            </a:pPr>
            <a:r>
              <a:rPr sz="4900" b="1" lang="ar-DZ">
                <a:solidFill>
                  <a:srgbClr val="F5F7F4"/>
                </a:solidFill>
                <a:latin typeface="Arial"/>
                <a:cs typeface="Arial"/>
                <a:ea typeface="Arial"/>
              </a:rPr>
              <a:t>الكاليسثنيكس</a:t>
            </a:r>
          </a:p>
        </p:txBody>
      </p:sp>
      <p:sp>
        <p:nvSpPr>
          <p:cNvPr id="13" name="TextBox 12"/>
          <p:cNvSpPr txBox="1"/>
          <p:nvPr/>
        </p:nvSpPr>
        <p:spPr>
          <a:xfrm>
            <a:off x="5394960" y="3172968"/>
            <a:ext cx="6035040" cy="960120"/>
          </a:xfrm>
          <a:prstGeom prst="rect">
            <a:avLst/>
          </a:prstGeom>
          <a:noFill/>
        </p:spPr>
        <p:txBody>
          <a:bodyPr wrap="square" lIns="25400" rIns="25400" tIns="12700" bIns="12700">
            <a:spAutoFit/>
          </a:bodyPr>
          <a:lstStyle/>
          <a:p>
            <a:pPr algn="r" rtl="1">
              <a:spcAft>
                <a:spcPts val="400"/>
              </a:spcAft>
            </a:pPr>
            <a:r>
              <a:rPr sz="2700" b="0" lang="ar-DZ">
                <a:solidFill>
                  <a:srgbClr val="F5F7F4"/>
                </a:solidFill>
                <a:latin typeface="Arial"/>
                <a:cs typeface="Arial"/>
                <a:ea typeface="Arial"/>
              </a:rPr>
              <a:t>قوة بوزن الجسم.</a:t>
            </a:r>
          </a:p>
          <a:p>
            <a:pPr algn="r" rtl="1">
              <a:spcAft>
                <a:spcPts val="400"/>
              </a:spcAft>
            </a:pPr>
            <a:r>
              <a:rPr sz="2700" b="0" lang="ar-DZ">
                <a:solidFill>
                  <a:srgbClr val="F5F7F4"/>
                </a:solidFill>
                <a:latin typeface="Arial"/>
                <a:cs typeface="Arial"/>
                <a:ea typeface="Arial"/>
              </a:rPr>
              <a:t>تحكّم بالحركة. تقدّم مستدام.</a:t>
            </a:r>
          </a:p>
        </p:txBody>
      </p:sp>
      <p:sp>
        <p:nvSpPr>
          <p:cNvPr id="14" name="TextBox 13"/>
          <p:cNvSpPr txBox="1"/>
          <p:nvPr/>
        </p:nvSpPr>
        <p:spPr>
          <a:xfrm>
            <a:off x="5394960" y="4453128"/>
            <a:ext cx="6035040" cy="576072"/>
          </a:xfrm>
          <a:prstGeom prst="rect">
            <a:avLst/>
          </a:prstGeom>
          <a:noFill/>
        </p:spPr>
        <p:txBody>
          <a:bodyPr wrap="square" lIns="25400" rIns="25400" tIns="12700" bIns="12700">
            <a:spAutoFit/>
          </a:bodyPr>
          <a:lstStyle/>
          <a:p>
            <a:pPr algn="r" rtl="1">
              <a:spcAft>
                <a:spcPts val="400"/>
              </a:spcAft>
            </a:pPr>
            <a:r>
              <a:rPr sz="1900" b="0" lang="ar-DZ">
                <a:solidFill>
                  <a:srgbClr val="AFC0C7"/>
                </a:solidFill>
                <a:latin typeface="Arial"/>
                <a:cs typeface="Arial"/>
                <a:ea typeface="Arial"/>
              </a:rPr>
              <a:t>دليل شامل: من الأساسيات إلى المهارات المتقدمة</a:t>
            </a:r>
          </a:p>
        </p:txBody>
      </p:sp>
      <p:sp>
        <p:nvSpPr>
          <p:cNvPr id="15" name="TextBox 14"/>
          <p:cNvSpPr txBox="1"/>
          <p:nvPr/>
        </p:nvSpPr>
        <p:spPr>
          <a:xfrm>
            <a:off x="5394960" y="5303520"/>
            <a:ext cx="6035040" cy="402336"/>
          </a:xfrm>
          <a:prstGeom prst="rect">
            <a:avLst/>
          </a:prstGeom>
          <a:noFill/>
        </p:spPr>
        <p:txBody>
          <a:bodyPr wrap="square" lIns="25400" rIns="25400" tIns="12700" bIns="12700">
            <a:spAutoFit/>
          </a:bodyPr>
          <a:lstStyle/>
          <a:p>
            <a:pPr algn="r" rtl="1">
              <a:spcAft>
                <a:spcPts val="400"/>
              </a:spcAft>
            </a:pPr>
            <a:r>
              <a:rPr sz="1800" b="0" lang="ar-DZ">
                <a:solidFill>
                  <a:srgbClr val="49D3BC"/>
                </a:solidFill>
                <a:latin typeface="Arial"/>
                <a:cs typeface="Arial"/>
                <a:ea typeface="Arial"/>
              </a:rPr>
              <a:t>إعداد وتقديم: [اسم مقدم العرض]</a:t>
            </a:r>
          </a:p>
        </p:txBody>
      </p:sp>
      <p:sp>
        <p:nvSpPr>
          <p:cNvPr id="16" name="TextBox 15"/>
          <p:cNvSpPr txBox="1"/>
          <p:nvPr/>
        </p:nvSpPr>
        <p:spPr>
          <a:xfrm>
            <a:off x="5394960" y="5806440"/>
            <a:ext cx="6035040" cy="292608"/>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عرض تعليمي للبالغين | 20–25 دقيقة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01 / فهم الرياضة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02 / 15</a:t>
            </a:r>
          </a:p>
        </p:txBody>
      </p:sp>
      <p:sp>
        <p:nvSpPr>
          <p:cNvPr id="8" name="Rectangle 7"/>
          <p:cNvSpPr/>
          <p:nvPr/>
        </p:nvSpPr>
        <p:spPr>
          <a:xfrm>
            <a:off x="548640" y="6803136"/>
            <a:ext cx="1475232"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من تمارين بسيطة إلى رياضة متكاملة</a:t>
            </a:r>
          </a:p>
        </p:txBody>
      </p:sp>
      <p:pic>
        <p:nvPicPr>
          <p:cNvPr id="10" name="Picture 9" descr="pullup.jpg"/>
          <p:cNvPicPr>
            <a:picLocks noChangeAspect="1"/>
          </p:cNvPicPr>
          <p:nvPr/>
        </p:nvPicPr>
        <p:blipFill>
          <a:blip r:embed="rId2"/>
          <a:srcRect t="8122" b="8122"/>
          <a:stretch>
            <a:fillRect/>
          </a:stretch>
        </p:blipFill>
        <p:spPr>
          <a:xfrm>
            <a:off x="640080" y="1874519"/>
            <a:ext cx="3246120" cy="4078224"/>
          </a:xfrm>
          <a:prstGeom prst="rect">
            <a:avLst/>
          </a:prstGeom>
        </p:spPr>
      </p:pic>
      <p:sp>
        <p:nvSpPr>
          <p:cNvPr id="11" name="TextBox 10"/>
          <p:cNvSpPr txBox="1"/>
          <p:nvPr/>
        </p:nvSpPr>
        <p:spPr>
          <a:xfrm>
            <a:off x="4251960" y="1856231"/>
            <a:ext cx="7223760" cy="731520"/>
          </a:xfrm>
          <a:prstGeom prst="rect">
            <a:avLst/>
          </a:prstGeom>
          <a:noFill/>
        </p:spPr>
        <p:txBody>
          <a:bodyPr wrap="square" lIns="25400" rIns="25400" tIns="12700" bIns="12700">
            <a:spAutoFit/>
          </a:bodyPr>
          <a:lstStyle/>
          <a:p>
            <a:pPr algn="r" rtl="1">
              <a:spcAft>
                <a:spcPts val="400"/>
              </a:spcAft>
            </a:pPr>
            <a:r>
              <a:rPr sz="2200" b="0" lang="ar-DZ">
                <a:solidFill>
                  <a:srgbClr val="AFC0C7"/>
                </a:solidFill>
                <a:latin typeface="Arial"/>
                <a:cs typeface="Arial"/>
                <a:ea typeface="Arial"/>
              </a:rPr>
              <a:t>جذور في التمارين البدنية والجمباز؛ حضور معاصر في الحدائق والصالات.</a:t>
            </a:r>
          </a:p>
        </p:txBody>
      </p:sp>
      <p:sp>
        <p:nvSpPr>
          <p:cNvPr id="12" name="Rounded Rectangle 11"/>
          <p:cNvSpPr/>
          <p:nvPr/>
        </p:nvSpPr>
        <p:spPr>
          <a:xfrm>
            <a:off x="4251960" y="2862072"/>
            <a:ext cx="7269480" cy="850392"/>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26496" y="3044952"/>
            <a:ext cx="457200" cy="365760"/>
          </a:xfrm>
          <a:prstGeom prst="rect">
            <a:avLst/>
          </a:prstGeom>
          <a:noFill/>
        </p:spPr>
        <p:txBody>
          <a:bodyPr wrap="square" lIns="25400" rIns="25400" tIns="12700" bIns="12700">
            <a:spAutoFit/>
          </a:bodyPr>
          <a:lstStyle/>
          <a:p>
            <a:pPr algn="ctr" rtl="0">
              <a:spcAft>
                <a:spcPts val="400"/>
              </a:spcAft>
            </a:pPr>
            <a:r>
              <a:rPr sz="1700" b="1" lang="en-US">
                <a:solidFill>
                  <a:srgbClr val="49D3BC"/>
                </a:solidFill>
                <a:latin typeface="Arial"/>
                <a:cs typeface="Arial"/>
                <a:ea typeface="Arial"/>
              </a:rPr>
              <a:t>01</a:t>
            </a:r>
          </a:p>
        </p:txBody>
      </p:sp>
      <p:sp>
        <p:nvSpPr>
          <p:cNvPr id="14" name="TextBox 13"/>
          <p:cNvSpPr txBox="1"/>
          <p:nvPr/>
        </p:nvSpPr>
        <p:spPr>
          <a:xfrm>
            <a:off x="4480560" y="2953512"/>
            <a:ext cx="6035040" cy="338328"/>
          </a:xfrm>
          <a:prstGeom prst="rect">
            <a:avLst/>
          </a:prstGeom>
          <a:noFill/>
        </p:spPr>
        <p:txBody>
          <a:bodyPr wrap="square" lIns="25400" rIns="25400" tIns="12700" bIns="12700">
            <a:spAutoFit/>
          </a:bodyPr>
          <a:lstStyle/>
          <a:p>
            <a:pPr algn="r" rtl="1">
              <a:spcAft>
                <a:spcPts val="400"/>
              </a:spcAft>
            </a:pPr>
            <a:r>
              <a:rPr sz="2100" b="1" lang="ar-DZ">
                <a:solidFill>
                  <a:srgbClr val="F5F7F4"/>
                </a:solidFill>
                <a:latin typeface="Arial"/>
                <a:cs typeface="Arial"/>
                <a:ea typeface="Arial"/>
              </a:rPr>
              <a:t>الأساسيات</a:t>
            </a:r>
          </a:p>
        </p:txBody>
      </p:sp>
      <p:sp>
        <p:nvSpPr>
          <p:cNvPr id="15" name="TextBox 14"/>
          <p:cNvSpPr txBox="1"/>
          <p:nvPr/>
        </p:nvSpPr>
        <p:spPr>
          <a:xfrm>
            <a:off x="4480560" y="3337560"/>
            <a:ext cx="6035040" cy="283464"/>
          </a:xfrm>
          <a:prstGeom prst="rect">
            <a:avLst/>
          </a:prstGeom>
          <a:noFill/>
        </p:spPr>
        <p:txBody>
          <a:bodyPr wrap="square" lIns="25400" rIns="25400" tIns="12700" bIns="12700">
            <a:spAutoFit/>
          </a:bodyPr>
          <a:lstStyle/>
          <a:p>
            <a:pPr algn="r" rtl="1">
              <a:spcAft>
                <a:spcPts val="400"/>
              </a:spcAft>
            </a:pPr>
            <a:r>
              <a:rPr sz="1600" b="0" lang="ar-DZ">
                <a:solidFill>
                  <a:srgbClr val="AFC0C7"/>
                </a:solidFill>
                <a:latin typeface="Arial"/>
                <a:cs typeface="Arial"/>
                <a:ea typeface="Arial"/>
              </a:rPr>
              <a:t>تكرارات متحكَّم بها لبناء القوة والتحمّل</a:t>
            </a:r>
          </a:p>
        </p:txBody>
      </p:sp>
      <p:sp>
        <p:nvSpPr>
          <p:cNvPr id="16" name="Rounded Rectangle 15"/>
          <p:cNvSpPr/>
          <p:nvPr/>
        </p:nvSpPr>
        <p:spPr>
          <a:xfrm>
            <a:off x="4251960" y="3867912"/>
            <a:ext cx="7269480" cy="850392"/>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26496" y="4050792"/>
            <a:ext cx="457200" cy="365760"/>
          </a:xfrm>
          <a:prstGeom prst="rect">
            <a:avLst/>
          </a:prstGeom>
          <a:noFill/>
        </p:spPr>
        <p:txBody>
          <a:bodyPr wrap="square" lIns="25400" rIns="25400" tIns="12700" bIns="12700">
            <a:spAutoFit/>
          </a:bodyPr>
          <a:lstStyle/>
          <a:p>
            <a:pPr algn="ctr" rtl="0">
              <a:spcAft>
                <a:spcPts val="400"/>
              </a:spcAft>
            </a:pPr>
            <a:r>
              <a:rPr sz="1700" b="1" lang="en-US">
                <a:solidFill>
                  <a:srgbClr val="49D3BC"/>
                </a:solidFill>
                <a:latin typeface="Arial"/>
                <a:cs typeface="Arial"/>
                <a:ea typeface="Arial"/>
              </a:rPr>
              <a:t>02</a:t>
            </a:r>
          </a:p>
        </p:txBody>
      </p:sp>
      <p:sp>
        <p:nvSpPr>
          <p:cNvPr id="18" name="TextBox 17"/>
          <p:cNvSpPr txBox="1"/>
          <p:nvPr/>
        </p:nvSpPr>
        <p:spPr>
          <a:xfrm>
            <a:off x="4480560" y="3959352"/>
            <a:ext cx="6035040" cy="338328"/>
          </a:xfrm>
          <a:prstGeom prst="rect">
            <a:avLst/>
          </a:prstGeom>
          <a:noFill/>
        </p:spPr>
        <p:txBody>
          <a:bodyPr wrap="square" lIns="25400" rIns="25400" tIns="12700" bIns="12700">
            <a:spAutoFit/>
          </a:bodyPr>
          <a:lstStyle/>
          <a:p>
            <a:pPr algn="r" rtl="1">
              <a:spcAft>
                <a:spcPts val="400"/>
              </a:spcAft>
            </a:pPr>
            <a:r>
              <a:rPr sz="2100" b="1" lang="ar-DZ">
                <a:solidFill>
                  <a:srgbClr val="F5F7F4"/>
                </a:solidFill>
                <a:latin typeface="Arial"/>
                <a:cs typeface="Arial"/>
                <a:ea typeface="Arial"/>
              </a:rPr>
              <a:t>الثبات والمهارات</a:t>
            </a:r>
          </a:p>
        </p:txBody>
      </p:sp>
      <p:sp>
        <p:nvSpPr>
          <p:cNvPr id="19" name="TextBox 18"/>
          <p:cNvSpPr txBox="1"/>
          <p:nvPr/>
        </p:nvSpPr>
        <p:spPr>
          <a:xfrm>
            <a:off x="4480560" y="4343400"/>
            <a:ext cx="6035040" cy="283464"/>
          </a:xfrm>
          <a:prstGeom prst="rect">
            <a:avLst/>
          </a:prstGeom>
          <a:noFill/>
        </p:spPr>
        <p:txBody>
          <a:bodyPr wrap="square" lIns="25400" rIns="25400" tIns="12700" bIns="12700">
            <a:spAutoFit/>
          </a:bodyPr>
          <a:lstStyle/>
          <a:p>
            <a:pPr algn="r" rtl="1">
              <a:spcAft>
                <a:spcPts val="400"/>
              </a:spcAft>
            </a:pPr>
            <a:r>
              <a:rPr sz="1600" b="0" lang="ar-DZ">
                <a:solidFill>
                  <a:srgbClr val="AFC0C7"/>
                </a:solidFill>
                <a:latin typeface="Arial"/>
                <a:cs typeface="Arial"/>
                <a:ea typeface="Arial"/>
              </a:rPr>
              <a:t>توازن وتحكّم عصبي عضلي</a:t>
            </a:r>
          </a:p>
        </p:txBody>
      </p:sp>
      <p:sp>
        <p:nvSpPr>
          <p:cNvPr id="20" name="Rounded Rectangle 19"/>
          <p:cNvSpPr/>
          <p:nvPr/>
        </p:nvSpPr>
        <p:spPr>
          <a:xfrm>
            <a:off x="4251960" y="4873752"/>
            <a:ext cx="7269480" cy="850392"/>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26496" y="5056632"/>
            <a:ext cx="457200" cy="365760"/>
          </a:xfrm>
          <a:prstGeom prst="rect">
            <a:avLst/>
          </a:prstGeom>
          <a:noFill/>
        </p:spPr>
        <p:txBody>
          <a:bodyPr wrap="square" lIns="25400" rIns="25400" tIns="12700" bIns="12700">
            <a:spAutoFit/>
          </a:bodyPr>
          <a:lstStyle/>
          <a:p>
            <a:pPr algn="ctr" rtl="0">
              <a:spcAft>
                <a:spcPts val="400"/>
              </a:spcAft>
            </a:pPr>
            <a:r>
              <a:rPr sz="1700" b="1" lang="en-US">
                <a:solidFill>
                  <a:srgbClr val="49D3BC"/>
                </a:solidFill>
                <a:latin typeface="Arial"/>
                <a:cs typeface="Arial"/>
                <a:ea typeface="Arial"/>
              </a:rPr>
              <a:t>03</a:t>
            </a:r>
          </a:p>
        </p:txBody>
      </p:sp>
      <p:sp>
        <p:nvSpPr>
          <p:cNvPr id="22" name="TextBox 21"/>
          <p:cNvSpPr txBox="1"/>
          <p:nvPr/>
        </p:nvSpPr>
        <p:spPr>
          <a:xfrm>
            <a:off x="4480560" y="4965192"/>
            <a:ext cx="6035040" cy="338328"/>
          </a:xfrm>
          <a:prstGeom prst="rect">
            <a:avLst/>
          </a:prstGeom>
          <a:noFill/>
        </p:spPr>
        <p:txBody>
          <a:bodyPr wrap="square" lIns="25400" rIns="25400" tIns="12700" bIns="12700">
            <a:spAutoFit/>
          </a:bodyPr>
          <a:lstStyle/>
          <a:p>
            <a:pPr algn="r" rtl="1">
              <a:spcAft>
                <a:spcPts val="400"/>
              </a:spcAft>
            </a:pPr>
            <a:r>
              <a:rPr sz="2100" b="1" lang="ar-DZ">
                <a:solidFill>
                  <a:srgbClr val="F5F7F4"/>
                </a:solidFill>
                <a:latin typeface="Arial"/>
                <a:cs typeface="Arial"/>
                <a:ea typeface="Arial"/>
              </a:rPr>
              <a:t>الأسلوب الحر (Freestyle)</a:t>
            </a:r>
          </a:p>
        </p:txBody>
      </p:sp>
      <p:sp>
        <p:nvSpPr>
          <p:cNvPr id="23" name="TextBox 22"/>
          <p:cNvSpPr txBox="1"/>
          <p:nvPr/>
        </p:nvSpPr>
        <p:spPr>
          <a:xfrm>
            <a:off x="4480560" y="5349240"/>
            <a:ext cx="6035040" cy="283464"/>
          </a:xfrm>
          <a:prstGeom prst="rect">
            <a:avLst/>
          </a:prstGeom>
          <a:noFill/>
        </p:spPr>
        <p:txBody>
          <a:bodyPr wrap="square" lIns="25400" rIns="25400" tIns="12700" bIns="12700">
            <a:spAutoFit/>
          </a:bodyPr>
          <a:lstStyle/>
          <a:p>
            <a:pPr algn="r" rtl="1">
              <a:spcAft>
                <a:spcPts val="400"/>
              </a:spcAft>
            </a:pPr>
            <a:r>
              <a:rPr sz="1600" b="0" lang="ar-DZ">
                <a:solidFill>
                  <a:srgbClr val="AFC0C7"/>
                </a:solidFill>
                <a:latin typeface="Arial"/>
                <a:cs typeface="Arial"/>
                <a:ea typeface="Arial"/>
              </a:rPr>
              <a:t>حركات ديناميكية متقدمة؛ ليست شرطًا للبدء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4"/>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536975"/>
                </a:solidFill>
                <a:latin typeface="Arial"/>
                <a:cs typeface="Arial"/>
                <a:ea typeface="Arial"/>
              </a:rPr>
              <a:t>01 / مفاهيم ومبادئ</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536975"/>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03 / 15</a:t>
            </a:r>
          </a:p>
        </p:txBody>
      </p:sp>
      <p:sp>
        <p:nvSpPr>
          <p:cNvPr id="8" name="Rectangle 7"/>
          <p:cNvSpPr/>
          <p:nvPr/>
        </p:nvSpPr>
        <p:spPr>
          <a:xfrm>
            <a:off x="548640" y="6803136"/>
            <a:ext cx="2212848"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142633"/>
                </a:solidFill>
                <a:latin typeface="Arial"/>
                <a:cs typeface="Arial"/>
                <a:ea typeface="Arial"/>
              </a:rPr>
              <a:t>افهم الحمل قبل أن تزيد الصعوبة</a:t>
            </a:r>
          </a:p>
        </p:txBody>
      </p:sp>
      <p:sp>
        <p:nvSpPr>
          <p:cNvPr id="10" name="TextBox 9"/>
          <p:cNvSpPr txBox="1"/>
          <p:nvPr/>
        </p:nvSpPr>
        <p:spPr>
          <a:xfrm>
            <a:off x="731520" y="1828800"/>
            <a:ext cx="10698480" cy="493776"/>
          </a:xfrm>
          <a:prstGeom prst="rect">
            <a:avLst/>
          </a:prstGeom>
          <a:noFill/>
        </p:spPr>
        <p:txBody>
          <a:bodyPr wrap="square" lIns="25400" rIns="25400" tIns="12700" bIns="12700">
            <a:spAutoFit/>
          </a:bodyPr>
          <a:lstStyle/>
          <a:p>
            <a:pPr algn="r" rtl="1">
              <a:spcAft>
                <a:spcPts val="400"/>
              </a:spcAft>
            </a:pPr>
            <a:r>
              <a:rPr sz="2400" b="0" lang="ar-DZ">
                <a:solidFill>
                  <a:srgbClr val="142633"/>
                </a:solidFill>
                <a:latin typeface="Arial"/>
                <a:cs typeface="Arial"/>
                <a:ea typeface="Arial"/>
              </a:rPr>
              <a:t>وزن الجسم هو المقاومة الأساسية؛ الرافعة تغيّر الحمل.</a:t>
            </a:r>
          </a:p>
        </p:txBody>
      </p:sp>
      <p:sp>
        <p:nvSpPr>
          <p:cNvPr id="11" name="Rounded Rectangle 10"/>
          <p:cNvSpPr/>
          <p:nvPr/>
        </p:nvSpPr>
        <p:spPr>
          <a:xfrm>
            <a:off x="7982712" y="2615184"/>
            <a:ext cx="3538728" cy="2313432"/>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63072" y="2798064"/>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536975"/>
                </a:solidFill>
                <a:latin typeface="Arial"/>
                <a:cs typeface="Arial"/>
                <a:ea typeface="Arial"/>
              </a:rPr>
              <a:t>01</a:t>
            </a:r>
          </a:p>
        </p:txBody>
      </p:sp>
      <p:sp>
        <p:nvSpPr>
          <p:cNvPr id="13" name="TextBox 12"/>
          <p:cNvSpPr txBox="1"/>
          <p:nvPr/>
        </p:nvSpPr>
        <p:spPr>
          <a:xfrm>
            <a:off x="8165592" y="3200400"/>
            <a:ext cx="3172968" cy="475488"/>
          </a:xfrm>
          <a:prstGeom prst="rect">
            <a:avLst/>
          </a:prstGeom>
          <a:noFill/>
        </p:spPr>
        <p:txBody>
          <a:bodyPr wrap="square" lIns="25400" rIns="25400" tIns="12700" bIns="12700">
            <a:spAutoFit/>
          </a:bodyPr>
          <a:lstStyle/>
          <a:p>
            <a:pPr algn="r" rtl="1">
              <a:spcAft>
                <a:spcPts val="400"/>
              </a:spcAft>
            </a:pPr>
            <a:r>
              <a:rPr sz="2300" b="1" lang="ar-DZ">
                <a:solidFill>
                  <a:srgbClr val="142633"/>
                </a:solidFill>
                <a:latin typeface="Arial"/>
                <a:cs typeface="Arial"/>
                <a:ea typeface="Arial"/>
              </a:rPr>
              <a:t>التكرار والمجموعة</a:t>
            </a:r>
          </a:p>
        </p:txBody>
      </p:sp>
      <p:sp>
        <p:nvSpPr>
          <p:cNvPr id="14" name="TextBox 13"/>
          <p:cNvSpPr txBox="1"/>
          <p:nvPr/>
        </p:nvSpPr>
        <p:spPr>
          <a:xfrm>
            <a:off x="8165592" y="3739896"/>
            <a:ext cx="3172968" cy="1124711"/>
          </a:xfrm>
          <a:prstGeom prst="rect">
            <a:avLst/>
          </a:prstGeom>
          <a:noFill/>
        </p:spPr>
        <p:txBody>
          <a:bodyPr wrap="square" lIns="25400" rIns="25400" tIns="12700" bIns="12700">
            <a:spAutoFit/>
          </a:bodyPr>
          <a:lstStyle/>
          <a:p>
            <a:pPr algn="r" rtl="1">
              <a:spcAft>
                <a:spcPts val="400"/>
              </a:spcAft>
            </a:pPr>
            <a:r>
              <a:rPr sz="1800" b="0" lang="ar-DZ">
                <a:solidFill>
                  <a:srgbClr val="536975"/>
                </a:solidFill>
                <a:latin typeface="Arial"/>
                <a:cs typeface="Arial"/>
                <a:ea typeface="Arial"/>
              </a:rPr>
              <a:t>Rep / Set</a:t>
            </a:r>
          </a:p>
          <a:p>
            <a:pPr algn="r" rtl="1">
              <a:spcAft>
                <a:spcPts val="400"/>
              </a:spcAft>
            </a:pPr>
            <a:r>
              <a:rPr sz="1800" b="0" lang="ar-DZ">
                <a:solidFill>
                  <a:srgbClr val="536975"/>
                </a:solidFill>
                <a:latin typeface="Arial"/>
                <a:cs typeface="Arial"/>
                <a:ea typeface="Arial"/>
              </a:rPr>
              <a:t>حركة كاملة / سلسلة تكرارات</a:t>
            </a:r>
          </a:p>
        </p:txBody>
      </p:sp>
      <p:sp>
        <p:nvSpPr>
          <p:cNvPr id="15" name="Rounded Rectangle 14"/>
          <p:cNvSpPr/>
          <p:nvPr/>
        </p:nvSpPr>
        <p:spPr>
          <a:xfrm>
            <a:off x="4306824" y="2615184"/>
            <a:ext cx="3538728" cy="2313432"/>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87184" y="2798064"/>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536975"/>
                </a:solidFill>
                <a:latin typeface="Arial"/>
                <a:cs typeface="Arial"/>
                <a:ea typeface="Arial"/>
              </a:rPr>
              <a:t>02</a:t>
            </a:r>
          </a:p>
        </p:txBody>
      </p:sp>
      <p:sp>
        <p:nvSpPr>
          <p:cNvPr id="17" name="TextBox 16"/>
          <p:cNvSpPr txBox="1"/>
          <p:nvPr/>
        </p:nvSpPr>
        <p:spPr>
          <a:xfrm>
            <a:off x="4489704" y="3200400"/>
            <a:ext cx="3172968" cy="475488"/>
          </a:xfrm>
          <a:prstGeom prst="rect">
            <a:avLst/>
          </a:prstGeom>
          <a:noFill/>
        </p:spPr>
        <p:txBody>
          <a:bodyPr wrap="square" lIns="25400" rIns="25400" tIns="12700" bIns="12700">
            <a:spAutoFit/>
          </a:bodyPr>
          <a:lstStyle/>
          <a:p>
            <a:pPr algn="r" rtl="1">
              <a:spcAft>
                <a:spcPts val="400"/>
              </a:spcAft>
            </a:pPr>
            <a:r>
              <a:rPr sz="2300" b="1" lang="ar-DZ">
                <a:solidFill>
                  <a:srgbClr val="142633"/>
                </a:solidFill>
                <a:latin typeface="Arial"/>
                <a:cs typeface="Arial"/>
                <a:ea typeface="Arial"/>
              </a:rPr>
              <a:t>المدى الحركي</a:t>
            </a:r>
          </a:p>
        </p:txBody>
      </p:sp>
      <p:sp>
        <p:nvSpPr>
          <p:cNvPr id="18" name="TextBox 17"/>
          <p:cNvSpPr txBox="1"/>
          <p:nvPr/>
        </p:nvSpPr>
        <p:spPr>
          <a:xfrm>
            <a:off x="4489704" y="3739896"/>
            <a:ext cx="3172968" cy="1124711"/>
          </a:xfrm>
          <a:prstGeom prst="rect">
            <a:avLst/>
          </a:prstGeom>
          <a:noFill/>
        </p:spPr>
        <p:txBody>
          <a:bodyPr wrap="square" lIns="25400" rIns="25400" tIns="12700" bIns="12700">
            <a:spAutoFit/>
          </a:bodyPr>
          <a:lstStyle/>
          <a:p>
            <a:pPr algn="r" rtl="1">
              <a:spcAft>
                <a:spcPts val="400"/>
              </a:spcAft>
            </a:pPr>
            <a:r>
              <a:rPr sz="1800" b="0" lang="ar-DZ">
                <a:solidFill>
                  <a:srgbClr val="536975"/>
                </a:solidFill>
                <a:latin typeface="Arial"/>
                <a:cs typeface="Arial"/>
                <a:ea typeface="Arial"/>
              </a:rPr>
              <a:t>ROM</a:t>
            </a:r>
          </a:p>
          <a:p>
            <a:pPr algn="r" rtl="1">
              <a:spcAft>
                <a:spcPts val="400"/>
              </a:spcAft>
            </a:pPr>
            <a:r>
              <a:rPr sz="1800" b="0" lang="ar-DZ">
                <a:solidFill>
                  <a:srgbClr val="536975"/>
                </a:solidFill>
                <a:latin typeface="Arial"/>
                <a:cs typeface="Arial"/>
                <a:ea typeface="Arial"/>
              </a:rPr>
              <a:t>مدى يمكن التحكّم به دون ألم</a:t>
            </a:r>
          </a:p>
        </p:txBody>
      </p:sp>
      <p:sp>
        <p:nvSpPr>
          <p:cNvPr id="19" name="Rounded Rectangle 18"/>
          <p:cNvSpPr/>
          <p:nvPr/>
        </p:nvSpPr>
        <p:spPr>
          <a:xfrm>
            <a:off x="630936" y="2615184"/>
            <a:ext cx="3538728" cy="2313432"/>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1296" y="2798064"/>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536975"/>
                </a:solidFill>
                <a:latin typeface="Arial"/>
                <a:cs typeface="Arial"/>
                <a:ea typeface="Arial"/>
              </a:rPr>
              <a:t>03</a:t>
            </a:r>
          </a:p>
        </p:txBody>
      </p:sp>
      <p:sp>
        <p:nvSpPr>
          <p:cNvPr id="21" name="TextBox 20"/>
          <p:cNvSpPr txBox="1"/>
          <p:nvPr/>
        </p:nvSpPr>
        <p:spPr>
          <a:xfrm>
            <a:off x="813816" y="3200400"/>
            <a:ext cx="3172968" cy="475488"/>
          </a:xfrm>
          <a:prstGeom prst="rect">
            <a:avLst/>
          </a:prstGeom>
          <a:noFill/>
        </p:spPr>
        <p:txBody>
          <a:bodyPr wrap="square" lIns="25400" rIns="25400" tIns="12700" bIns="12700">
            <a:spAutoFit/>
          </a:bodyPr>
          <a:lstStyle/>
          <a:p>
            <a:pPr algn="r" rtl="1">
              <a:spcAft>
                <a:spcPts val="400"/>
              </a:spcAft>
            </a:pPr>
            <a:r>
              <a:rPr sz="2300" b="1" lang="ar-DZ">
                <a:solidFill>
                  <a:srgbClr val="142633"/>
                </a:solidFill>
                <a:latin typeface="Arial"/>
                <a:cs typeface="Arial"/>
                <a:ea typeface="Arial"/>
              </a:rPr>
              <a:t>التدرّج والاحتياط</a:t>
            </a:r>
          </a:p>
        </p:txBody>
      </p:sp>
      <p:sp>
        <p:nvSpPr>
          <p:cNvPr id="22" name="TextBox 21"/>
          <p:cNvSpPr txBox="1"/>
          <p:nvPr/>
        </p:nvSpPr>
        <p:spPr>
          <a:xfrm>
            <a:off x="813816" y="3739896"/>
            <a:ext cx="3172968" cy="1124711"/>
          </a:xfrm>
          <a:prstGeom prst="rect">
            <a:avLst/>
          </a:prstGeom>
          <a:noFill/>
        </p:spPr>
        <p:txBody>
          <a:bodyPr wrap="square" lIns="25400" rIns="25400" tIns="12700" bIns="12700">
            <a:spAutoFit/>
          </a:bodyPr>
          <a:lstStyle/>
          <a:p>
            <a:pPr algn="r" rtl="1">
              <a:spcAft>
                <a:spcPts val="400"/>
              </a:spcAft>
            </a:pPr>
            <a:r>
              <a:rPr sz="1800" b="0" lang="ar-DZ">
                <a:solidFill>
                  <a:srgbClr val="536975"/>
                </a:solidFill>
                <a:latin typeface="Arial"/>
                <a:cs typeface="Arial"/>
                <a:ea typeface="Arial"/>
              </a:rPr>
              <a:t>Overload / RIR</a:t>
            </a:r>
          </a:p>
          <a:p>
            <a:pPr algn="r" rtl="1">
              <a:spcAft>
                <a:spcPts val="400"/>
              </a:spcAft>
            </a:pPr>
            <a:r>
              <a:rPr sz="1800" b="0" lang="ar-DZ">
                <a:solidFill>
                  <a:srgbClr val="536975"/>
                </a:solidFill>
                <a:latin typeface="Arial"/>
                <a:cs typeface="Arial"/>
                <a:ea typeface="Arial"/>
              </a:rPr>
              <a:t>زيادة مدروسة دون استنزاف دائم</a:t>
            </a:r>
          </a:p>
        </p:txBody>
      </p:sp>
      <p:sp>
        <p:nvSpPr>
          <p:cNvPr id="23" name="Rounded Rectangle 22"/>
          <p:cNvSpPr/>
          <p:nvPr/>
        </p:nvSpPr>
        <p:spPr>
          <a:xfrm>
            <a:off x="8851392" y="5303520"/>
            <a:ext cx="2633472" cy="557784"/>
          </a:xfrm>
          <a:prstGeom prst="roundRect">
            <a:avLst>
              <a:gd name="adj" fmla="val 12000"/>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42832" y="5458968"/>
            <a:ext cx="2450592" cy="301752"/>
          </a:xfrm>
          <a:prstGeom prst="rect">
            <a:avLst/>
          </a:prstGeom>
          <a:noFill/>
        </p:spPr>
        <p:txBody>
          <a:bodyPr wrap="square" lIns="25400" rIns="25400" tIns="12700" bIns="12700">
            <a:spAutoFit/>
          </a:bodyPr>
          <a:lstStyle/>
          <a:p>
            <a:pPr algn="ctr" rtl="1">
              <a:spcAft>
                <a:spcPts val="400"/>
              </a:spcAft>
            </a:pPr>
            <a:r>
              <a:rPr sz="1700" b="1" lang="ar-DZ">
                <a:solidFill>
                  <a:srgbClr val="142633"/>
                </a:solidFill>
                <a:latin typeface="Arial"/>
                <a:cs typeface="Arial"/>
                <a:ea typeface="Arial"/>
              </a:rPr>
              <a:t>ضغط على الحائط</a:t>
            </a:r>
          </a:p>
        </p:txBody>
      </p:sp>
      <p:sp>
        <p:nvSpPr>
          <p:cNvPr id="25" name="Rounded Rectangle 24"/>
          <p:cNvSpPr/>
          <p:nvPr/>
        </p:nvSpPr>
        <p:spPr>
          <a:xfrm>
            <a:off x="6126479" y="5303520"/>
            <a:ext cx="2633472" cy="557784"/>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19" y="5458968"/>
            <a:ext cx="2450592" cy="301752"/>
          </a:xfrm>
          <a:prstGeom prst="rect">
            <a:avLst/>
          </a:prstGeom>
          <a:noFill/>
        </p:spPr>
        <p:txBody>
          <a:bodyPr wrap="square" lIns="25400" rIns="25400" tIns="12700" bIns="12700">
            <a:spAutoFit/>
          </a:bodyPr>
          <a:lstStyle/>
          <a:p>
            <a:pPr algn="ctr" rtl="1">
              <a:spcAft>
                <a:spcPts val="400"/>
              </a:spcAft>
            </a:pPr>
            <a:r>
              <a:rPr sz="1700" b="1" lang="ar-DZ">
                <a:solidFill>
                  <a:srgbClr val="142633"/>
                </a:solidFill>
                <a:latin typeface="Arial"/>
                <a:cs typeface="Arial"/>
                <a:ea typeface="Arial"/>
              </a:rPr>
              <a:t>سطح مرتفع</a:t>
            </a:r>
          </a:p>
        </p:txBody>
      </p:sp>
      <p:sp>
        <p:nvSpPr>
          <p:cNvPr id="27" name="Rounded Rectangle 26"/>
          <p:cNvSpPr/>
          <p:nvPr/>
        </p:nvSpPr>
        <p:spPr>
          <a:xfrm>
            <a:off x="3401568" y="5303520"/>
            <a:ext cx="2633472" cy="557784"/>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93008" y="5458968"/>
            <a:ext cx="2450592" cy="301752"/>
          </a:xfrm>
          <a:prstGeom prst="rect">
            <a:avLst/>
          </a:prstGeom>
          <a:noFill/>
        </p:spPr>
        <p:txBody>
          <a:bodyPr wrap="square" lIns="25400" rIns="25400" tIns="12700" bIns="12700">
            <a:spAutoFit/>
          </a:bodyPr>
          <a:lstStyle/>
          <a:p>
            <a:pPr algn="ctr" rtl="1">
              <a:spcAft>
                <a:spcPts val="400"/>
              </a:spcAft>
            </a:pPr>
            <a:r>
              <a:rPr sz="1700" b="1" lang="ar-DZ">
                <a:solidFill>
                  <a:srgbClr val="142633"/>
                </a:solidFill>
                <a:latin typeface="Arial"/>
                <a:cs typeface="Arial"/>
                <a:ea typeface="Arial"/>
              </a:rPr>
              <a:t>ضغط أرضي</a:t>
            </a:r>
          </a:p>
        </p:txBody>
      </p:sp>
      <p:sp>
        <p:nvSpPr>
          <p:cNvPr id="29" name="Rounded Rectangle 28"/>
          <p:cNvSpPr/>
          <p:nvPr/>
        </p:nvSpPr>
        <p:spPr>
          <a:xfrm>
            <a:off x="676656" y="5303520"/>
            <a:ext cx="2633472" cy="557784"/>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8096" y="5458968"/>
            <a:ext cx="2450592" cy="301752"/>
          </a:xfrm>
          <a:prstGeom prst="rect">
            <a:avLst/>
          </a:prstGeom>
          <a:noFill/>
        </p:spPr>
        <p:txBody>
          <a:bodyPr wrap="square" lIns="25400" rIns="25400" tIns="12700" bIns="12700">
            <a:spAutoFit/>
          </a:bodyPr>
          <a:lstStyle/>
          <a:p>
            <a:pPr algn="ctr" rtl="1">
              <a:spcAft>
                <a:spcPts val="400"/>
              </a:spcAft>
            </a:pPr>
            <a:r>
              <a:rPr sz="1700" b="1" lang="ar-DZ">
                <a:solidFill>
                  <a:srgbClr val="142633"/>
                </a:solidFill>
                <a:latin typeface="Arial"/>
                <a:cs typeface="Arial"/>
                <a:ea typeface="Arial"/>
              </a:rPr>
              <a:t>رفع القدمين</a:t>
            </a:r>
          </a:p>
        </p:txBody>
      </p:sp>
      <p:sp>
        <p:nvSpPr>
          <p:cNvPr id="31" name="TextBox 30"/>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536975"/>
                </a:solidFill>
                <a:latin typeface="Arial"/>
                <a:cs typeface="Arial"/>
                <a:ea typeface="Arial"/>
              </a:rPr>
              <a:t>مثال لتدرّج الضغط من اليمين إلى اليسار؛ الانتقال بحسب جودة الحركة، لا الزمن وحده.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01 / الأهمية الصحية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04 / 15</a:t>
            </a:r>
          </a:p>
        </p:txBody>
      </p:sp>
      <p:sp>
        <p:nvSpPr>
          <p:cNvPr id="8" name="Rectangle 7"/>
          <p:cNvSpPr/>
          <p:nvPr/>
        </p:nvSpPr>
        <p:spPr>
          <a:xfrm>
            <a:off x="548640" y="6803136"/>
            <a:ext cx="2950464"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قوة متاحة… ضمن نمط حياة نشط</a:t>
            </a:r>
          </a:p>
        </p:txBody>
      </p:sp>
      <p:pic>
        <p:nvPicPr>
          <p:cNvPr id="10" name="Picture 9" descr="incline.jpg"/>
          <p:cNvPicPr>
            <a:picLocks noChangeAspect="1"/>
          </p:cNvPicPr>
          <p:nvPr/>
        </p:nvPicPr>
        <p:blipFill>
          <a:blip r:embed="rId2"/>
          <a:srcRect t="6367" b="6367"/>
          <a:stretch>
            <a:fillRect/>
          </a:stretch>
        </p:blipFill>
        <p:spPr>
          <a:xfrm>
            <a:off x="640080" y="1856231"/>
            <a:ext cx="3154680" cy="4123944"/>
          </a:xfrm>
          <a:prstGeom prst="rect">
            <a:avLst/>
          </a:prstGeom>
        </p:spPr>
      </p:pic>
      <p:sp>
        <p:nvSpPr>
          <p:cNvPr id="11" name="Oval 10"/>
          <p:cNvSpPr/>
          <p:nvPr/>
        </p:nvSpPr>
        <p:spPr>
          <a:xfrm>
            <a:off x="11265408" y="1965960"/>
            <a:ext cx="109728" cy="109728"/>
          </a:xfrm>
          <a:prstGeom prst="ellipse">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1847088"/>
            <a:ext cx="6830568" cy="539496"/>
          </a:xfrm>
          <a:prstGeom prst="rect">
            <a:avLst/>
          </a:prstGeom>
          <a:noFill/>
        </p:spPr>
        <p:txBody>
          <a:bodyPr wrap="square" lIns="25400" rIns="25400" tIns="12700" bIns="12700">
            <a:spAutoFit/>
          </a:bodyPr>
          <a:lstStyle/>
          <a:p>
            <a:pPr algn="r" rtl="1">
              <a:spcAft>
                <a:spcPts val="400"/>
              </a:spcAft>
            </a:pPr>
            <a:r>
              <a:rPr sz="2100" b="0" lang="ar-DZ">
                <a:solidFill>
                  <a:srgbClr val="F5F7F4"/>
                </a:solidFill>
                <a:latin typeface="Arial"/>
                <a:cs typeface="Arial"/>
                <a:ea typeface="Arial"/>
              </a:rPr>
              <a:t>تطوير القوة والتحمّل العضلي بحسب شدة التدريب.</a:t>
            </a:r>
          </a:p>
        </p:txBody>
      </p:sp>
      <p:sp>
        <p:nvSpPr>
          <p:cNvPr id="13" name="Oval 12"/>
          <p:cNvSpPr/>
          <p:nvPr/>
        </p:nvSpPr>
        <p:spPr>
          <a:xfrm>
            <a:off x="11265408" y="2633472"/>
            <a:ext cx="109728" cy="109728"/>
          </a:xfrm>
          <a:prstGeom prst="ellipse">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2514600"/>
            <a:ext cx="6830568" cy="539496"/>
          </a:xfrm>
          <a:prstGeom prst="rect">
            <a:avLst/>
          </a:prstGeom>
          <a:noFill/>
        </p:spPr>
        <p:txBody>
          <a:bodyPr wrap="square" lIns="25400" rIns="25400" tIns="12700" bIns="12700">
            <a:spAutoFit/>
          </a:bodyPr>
          <a:lstStyle/>
          <a:p>
            <a:pPr algn="r" rtl="1">
              <a:spcAft>
                <a:spcPts val="400"/>
              </a:spcAft>
            </a:pPr>
            <a:r>
              <a:rPr sz="2100" b="0" lang="ar-DZ">
                <a:solidFill>
                  <a:srgbClr val="F5F7F4"/>
                </a:solidFill>
                <a:latin typeface="Arial"/>
                <a:cs typeface="Arial"/>
                <a:ea typeface="Arial"/>
              </a:rPr>
              <a:t>تدريب التحكّم والتوازن عبر حركات مناسبة للمستوى.</a:t>
            </a:r>
          </a:p>
        </p:txBody>
      </p:sp>
      <p:sp>
        <p:nvSpPr>
          <p:cNvPr id="15" name="Oval 14"/>
          <p:cNvSpPr/>
          <p:nvPr/>
        </p:nvSpPr>
        <p:spPr>
          <a:xfrm>
            <a:off x="11265408" y="3300984"/>
            <a:ext cx="109728" cy="109728"/>
          </a:xfrm>
          <a:prstGeom prst="ellipse">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0520" y="3182112"/>
            <a:ext cx="6830568" cy="539496"/>
          </a:xfrm>
          <a:prstGeom prst="rect">
            <a:avLst/>
          </a:prstGeom>
          <a:noFill/>
        </p:spPr>
        <p:txBody>
          <a:bodyPr wrap="square" lIns="25400" rIns="25400" tIns="12700" bIns="12700">
            <a:spAutoFit/>
          </a:bodyPr>
          <a:lstStyle/>
          <a:p>
            <a:pPr algn="r" rtl="1">
              <a:spcAft>
                <a:spcPts val="400"/>
              </a:spcAft>
            </a:pPr>
            <a:r>
              <a:rPr sz="2100" b="0" lang="ar-DZ">
                <a:solidFill>
                  <a:srgbClr val="F5F7F4"/>
                </a:solidFill>
                <a:latin typeface="Arial"/>
                <a:cs typeface="Arial"/>
                <a:ea typeface="Arial"/>
              </a:rPr>
              <a:t>معدات قليلة نسبيًا وإمكانية التدريب في أماكن متعددة.</a:t>
            </a:r>
          </a:p>
        </p:txBody>
      </p:sp>
      <p:sp>
        <p:nvSpPr>
          <p:cNvPr id="17" name="Rounded Rectangle 16"/>
          <p:cNvSpPr/>
          <p:nvPr/>
        </p:nvSpPr>
        <p:spPr>
          <a:xfrm>
            <a:off x="8010144" y="4114800"/>
            <a:ext cx="3493008" cy="1344168"/>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4279392"/>
            <a:ext cx="3200400" cy="585216"/>
          </a:xfrm>
          <a:prstGeom prst="rect">
            <a:avLst/>
          </a:prstGeom>
          <a:noFill/>
        </p:spPr>
        <p:txBody>
          <a:bodyPr wrap="square" lIns="25400" rIns="25400" tIns="12700" bIns="12700">
            <a:spAutoFit/>
          </a:bodyPr>
          <a:lstStyle/>
          <a:p>
            <a:pPr algn="ctr" rtl="0">
              <a:spcAft>
                <a:spcPts val="400"/>
              </a:spcAft>
            </a:pPr>
            <a:r>
              <a:rPr sz="3600" b="1" lang="en-US">
                <a:solidFill>
                  <a:srgbClr val="49D3BC"/>
                </a:solidFill>
                <a:latin typeface="Arial"/>
                <a:cs typeface="Arial"/>
                <a:ea typeface="Arial"/>
              </a:rPr>
              <a:t>2+</a:t>
            </a:r>
          </a:p>
        </p:txBody>
      </p:sp>
      <p:sp>
        <p:nvSpPr>
          <p:cNvPr id="19" name="TextBox 18"/>
          <p:cNvSpPr txBox="1"/>
          <p:nvPr/>
        </p:nvSpPr>
        <p:spPr>
          <a:xfrm>
            <a:off x="8147304" y="4946904"/>
            <a:ext cx="3200400" cy="365760"/>
          </a:xfrm>
          <a:prstGeom prst="rect">
            <a:avLst/>
          </a:prstGeom>
          <a:noFill/>
        </p:spPr>
        <p:txBody>
          <a:bodyPr wrap="square" lIns="25400" rIns="25400" tIns="12700" bIns="12700">
            <a:spAutoFit/>
          </a:bodyPr>
          <a:lstStyle/>
          <a:p>
            <a:pPr algn="ctr" rtl="1">
              <a:spcAft>
                <a:spcPts val="400"/>
              </a:spcAft>
            </a:pPr>
            <a:r>
              <a:rPr sz="1400" b="0" lang="ar-DZ">
                <a:solidFill>
                  <a:srgbClr val="F5F7F4"/>
                </a:solidFill>
                <a:latin typeface="Arial"/>
                <a:cs typeface="Arial"/>
                <a:ea typeface="Arial"/>
              </a:rPr>
              <a:t>يوم تقوية أسبوعيًا</a:t>
            </a:r>
          </a:p>
        </p:txBody>
      </p:sp>
      <p:sp>
        <p:nvSpPr>
          <p:cNvPr id="20" name="Rounded Rectangle 19"/>
          <p:cNvSpPr/>
          <p:nvPr/>
        </p:nvSpPr>
        <p:spPr>
          <a:xfrm>
            <a:off x="4178808" y="4114800"/>
            <a:ext cx="3493008" cy="1344168"/>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15968" y="4279392"/>
            <a:ext cx="3200400" cy="585216"/>
          </a:xfrm>
          <a:prstGeom prst="rect">
            <a:avLst/>
          </a:prstGeom>
          <a:noFill/>
        </p:spPr>
        <p:txBody>
          <a:bodyPr wrap="square" lIns="25400" rIns="25400" tIns="12700" bIns="12700">
            <a:spAutoFit/>
          </a:bodyPr>
          <a:lstStyle/>
          <a:p>
            <a:pPr algn="ctr" rtl="0">
              <a:spcAft>
                <a:spcPts val="400"/>
              </a:spcAft>
            </a:pPr>
            <a:r>
              <a:rPr sz="3600" b="1" lang="en-US">
                <a:solidFill>
                  <a:srgbClr val="49D3BC"/>
                </a:solidFill>
                <a:latin typeface="Arial"/>
                <a:cs typeface="Arial"/>
                <a:ea typeface="Arial"/>
              </a:rPr>
              <a:t>150–300</a:t>
            </a:r>
          </a:p>
        </p:txBody>
      </p:sp>
      <p:sp>
        <p:nvSpPr>
          <p:cNvPr id="22" name="TextBox 21"/>
          <p:cNvSpPr txBox="1"/>
          <p:nvPr/>
        </p:nvSpPr>
        <p:spPr>
          <a:xfrm>
            <a:off x="4315968" y="4946904"/>
            <a:ext cx="3200400" cy="365760"/>
          </a:xfrm>
          <a:prstGeom prst="rect">
            <a:avLst/>
          </a:prstGeom>
          <a:noFill/>
        </p:spPr>
        <p:txBody>
          <a:bodyPr wrap="square" lIns="25400" rIns="25400" tIns="12700" bIns="12700">
            <a:spAutoFit/>
          </a:bodyPr>
          <a:lstStyle/>
          <a:p>
            <a:pPr algn="ctr" rtl="1">
              <a:spcAft>
                <a:spcPts val="400"/>
              </a:spcAft>
            </a:pPr>
            <a:r>
              <a:rPr sz="1400" b="0" lang="ar-DZ">
                <a:solidFill>
                  <a:srgbClr val="F5F7F4"/>
                </a:solidFill>
                <a:latin typeface="Arial"/>
                <a:cs typeface="Arial"/>
                <a:ea typeface="Arial"/>
              </a:rPr>
              <a:t>دقيقة نشاط هوائي معتدل أسبوعيًا</a:t>
            </a:r>
          </a:p>
        </p:txBody>
      </p:sp>
      <p:sp>
        <p:nvSpPr>
          <p:cNvPr id="23" name="TextBox 22"/>
          <p:cNvSpPr txBox="1"/>
          <p:nvPr/>
        </p:nvSpPr>
        <p:spPr>
          <a:xfrm>
            <a:off x="4206240" y="5614416"/>
            <a:ext cx="7223760" cy="347472"/>
          </a:xfrm>
          <a:prstGeom prst="rect">
            <a:avLst/>
          </a:prstGeom>
          <a:noFill/>
        </p:spPr>
        <p:txBody>
          <a:bodyPr wrap="square" lIns="25400" rIns="25400" tIns="12700" bIns="12700">
            <a:spAutoFit/>
          </a:bodyPr>
          <a:lstStyle/>
          <a:p>
            <a:pPr algn="r" rtl="1">
              <a:spcAft>
                <a:spcPts val="400"/>
              </a:spcAft>
            </a:pPr>
            <a:r>
              <a:rPr sz="1700" b="0" lang="ar-DZ">
                <a:solidFill>
                  <a:srgbClr val="EDAD66"/>
                </a:solidFill>
                <a:latin typeface="Arial"/>
                <a:cs typeface="Arial"/>
                <a:ea typeface="Arial"/>
              </a:rPr>
              <a:t>الكاليسثنيكس لا يغني تلقائيًا عن النشاط الهوائي.</a:t>
            </a:r>
          </a:p>
        </p:txBody>
      </p:sp>
      <p:sp>
        <p:nvSpPr>
          <p:cNvPr id="24" name="TextBox 23"/>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AFC0C7"/>
                </a:solidFill>
                <a:latin typeface="Arial"/>
                <a:cs typeface="Arial"/>
                <a:ea typeface="Arial"/>
              </a:rPr>
              <a:t>المصدر: منظمة الصحة العالمية، إرشادات النشاط البدني 2020؛ التوصيات للبالغين.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02 / الهدف والأدوات</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05 / 15</a:t>
            </a:r>
          </a:p>
        </p:txBody>
      </p:sp>
      <p:sp>
        <p:nvSpPr>
          <p:cNvPr id="8" name="Rectangle 7"/>
          <p:cNvSpPr/>
          <p:nvPr/>
        </p:nvSpPr>
        <p:spPr>
          <a:xfrm>
            <a:off x="548640" y="6803136"/>
            <a:ext cx="3688080"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حدّد هدفك… ثم اختر أدواتك</a:t>
            </a:r>
          </a:p>
        </p:txBody>
      </p:sp>
      <p:sp>
        <p:nvSpPr>
          <p:cNvPr id="10" name="Rounded Rectangle 9"/>
          <p:cNvSpPr/>
          <p:nvPr/>
        </p:nvSpPr>
        <p:spPr>
          <a:xfrm>
            <a:off x="8028431" y="1984248"/>
            <a:ext cx="2670048" cy="242316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40111" y="2167128"/>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49D3BC"/>
                </a:solidFill>
                <a:latin typeface="Arial"/>
                <a:cs typeface="Arial"/>
                <a:ea typeface="Arial"/>
              </a:rPr>
              <a:t>01</a:t>
            </a:r>
          </a:p>
        </p:txBody>
      </p:sp>
      <p:sp>
        <p:nvSpPr>
          <p:cNvPr id="12" name="TextBox 11"/>
          <p:cNvSpPr txBox="1"/>
          <p:nvPr/>
        </p:nvSpPr>
        <p:spPr>
          <a:xfrm>
            <a:off x="8211311" y="2569464"/>
            <a:ext cx="2304288" cy="475488"/>
          </a:xfrm>
          <a:prstGeom prst="rect">
            <a:avLst/>
          </a:prstGeom>
          <a:noFill/>
        </p:spPr>
        <p:txBody>
          <a:bodyPr wrap="square" lIns="25400" rIns="25400" tIns="12700" bIns="12700">
            <a:spAutoFit/>
          </a:bodyPr>
          <a:lstStyle/>
          <a:p>
            <a:pPr algn="r" rtl="1">
              <a:spcAft>
                <a:spcPts val="400"/>
              </a:spcAft>
            </a:pPr>
            <a:r>
              <a:rPr sz="2300" b="1" lang="ar-DZ">
                <a:solidFill>
                  <a:srgbClr val="F5F7F4"/>
                </a:solidFill>
                <a:latin typeface="Arial"/>
                <a:cs typeface="Arial"/>
                <a:ea typeface="Arial"/>
              </a:rPr>
              <a:t>قوة وتحمّل</a:t>
            </a:r>
          </a:p>
        </p:txBody>
      </p:sp>
      <p:sp>
        <p:nvSpPr>
          <p:cNvPr id="13" name="TextBox 12"/>
          <p:cNvSpPr txBox="1"/>
          <p:nvPr/>
        </p:nvSpPr>
        <p:spPr>
          <a:xfrm>
            <a:off x="8211311" y="3108960"/>
            <a:ext cx="2304288" cy="1234439"/>
          </a:xfrm>
          <a:prstGeom prst="rect">
            <a:avLst/>
          </a:prstGeom>
          <a:noFill/>
        </p:spPr>
        <p:txBody>
          <a:bodyPr wrap="square" lIns="25400" rIns="25400" tIns="12700" bIns="12700">
            <a:spAutoFit/>
          </a:bodyPr>
          <a:lstStyle/>
          <a:p>
            <a:pPr algn="r" rtl="1">
              <a:spcAft>
                <a:spcPts val="400"/>
              </a:spcAft>
            </a:pPr>
            <a:r>
              <a:rPr sz="1800" b="0" lang="ar-DZ">
                <a:solidFill>
                  <a:srgbClr val="AFC0C7"/>
                </a:solidFill>
                <a:latin typeface="Arial"/>
                <a:cs typeface="Arial"/>
                <a:ea typeface="Arial"/>
              </a:rPr>
              <a:t>تكرارات أنظف</a:t>
            </a:r>
          </a:p>
          <a:p>
            <a:pPr algn="r" rtl="1">
              <a:spcAft>
                <a:spcPts val="400"/>
              </a:spcAft>
            </a:pPr>
            <a:r>
              <a:rPr sz="1800" b="0" lang="ar-DZ">
                <a:solidFill>
                  <a:srgbClr val="AFC0C7"/>
                </a:solidFill>
                <a:latin typeface="Arial"/>
                <a:cs typeface="Arial"/>
                <a:ea typeface="Arial"/>
              </a:rPr>
              <a:t>أو نسخة أصعب</a:t>
            </a:r>
          </a:p>
        </p:txBody>
      </p:sp>
      <p:sp>
        <p:nvSpPr>
          <p:cNvPr id="14" name="Rounded Rectangle 13"/>
          <p:cNvSpPr/>
          <p:nvPr/>
        </p:nvSpPr>
        <p:spPr>
          <a:xfrm>
            <a:off x="5212079" y="1984248"/>
            <a:ext cx="2670048" cy="242316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59" y="2167128"/>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49D3BC"/>
                </a:solidFill>
                <a:latin typeface="Arial"/>
                <a:cs typeface="Arial"/>
                <a:ea typeface="Arial"/>
              </a:rPr>
              <a:t>02</a:t>
            </a:r>
          </a:p>
        </p:txBody>
      </p:sp>
      <p:sp>
        <p:nvSpPr>
          <p:cNvPr id="16" name="TextBox 15"/>
          <p:cNvSpPr txBox="1"/>
          <p:nvPr/>
        </p:nvSpPr>
        <p:spPr>
          <a:xfrm>
            <a:off x="5394959" y="2569464"/>
            <a:ext cx="2304288" cy="475488"/>
          </a:xfrm>
          <a:prstGeom prst="rect">
            <a:avLst/>
          </a:prstGeom>
          <a:noFill/>
        </p:spPr>
        <p:txBody>
          <a:bodyPr wrap="square" lIns="25400" rIns="25400" tIns="12700" bIns="12700">
            <a:spAutoFit/>
          </a:bodyPr>
          <a:lstStyle/>
          <a:p>
            <a:pPr algn="r" rtl="1">
              <a:spcAft>
                <a:spcPts val="400"/>
              </a:spcAft>
            </a:pPr>
            <a:r>
              <a:rPr sz="2300" b="1" lang="ar-DZ">
                <a:solidFill>
                  <a:srgbClr val="F5F7F4"/>
                </a:solidFill>
                <a:latin typeface="Arial"/>
                <a:cs typeface="Arial"/>
                <a:ea typeface="Arial"/>
              </a:rPr>
              <a:t>مهارة وتحكّم</a:t>
            </a:r>
          </a:p>
        </p:txBody>
      </p:sp>
      <p:sp>
        <p:nvSpPr>
          <p:cNvPr id="17" name="TextBox 16"/>
          <p:cNvSpPr txBox="1"/>
          <p:nvPr/>
        </p:nvSpPr>
        <p:spPr>
          <a:xfrm>
            <a:off x="5394959" y="3108960"/>
            <a:ext cx="2304288" cy="1234439"/>
          </a:xfrm>
          <a:prstGeom prst="rect">
            <a:avLst/>
          </a:prstGeom>
          <a:noFill/>
        </p:spPr>
        <p:txBody>
          <a:bodyPr wrap="square" lIns="25400" rIns="25400" tIns="12700" bIns="12700">
            <a:spAutoFit/>
          </a:bodyPr>
          <a:lstStyle/>
          <a:p>
            <a:pPr algn="r" rtl="1">
              <a:spcAft>
                <a:spcPts val="400"/>
              </a:spcAft>
            </a:pPr>
            <a:r>
              <a:rPr sz="1800" b="0" lang="ar-DZ">
                <a:solidFill>
                  <a:srgbClr val="AFC0C7"/>
                </a:solidFill>
                <a:latin typeface="Arial"/>
                <a:cs typeface="Arial"/>
                <a:ea typeface="Arial"/>
              </a:rPr>
              <a:t>مهارة واحدة</a:t>
            </a:r>
          </a:p>
          <a:p>
            <a:pPr algn="r" rtl="1">
              <a:spcAft>
                <a:spcPts val="400"/>
              </a:spcAft>
            </a:pPr>
            <a:r>
              <a:rPr sz="1800" b="0" lang="ar-DZ">
                <a:solidFill>
                  <a:srgbClr val="AFC0C7"/>
                </a:solidFill>
                <a:latin typeface="Arial"/>
                <a:cs typeface="Arial"/>
                <a:ea typeface="Arial"/>
              </a:rPr>
              <a:t>بتدرّج مناسب</a:t>
            </a:r>
          </a:p>
        </p:txBody>
      </p:sp>
      <p:sp>
        <p:nvSpPr>
          <p:cNvPr id="18" name="Rounded Rectangle 17"/>
          <p:cNvSpPr/>
          <p:nvPr/>
        </p:nvSpPr>
        <p:spPr>
          <a:xfrm>
            <a:off x="2395727" y="1984248"/>
            <a:ext cx="2670048" cy="242316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7407" y="2167128"/>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49D3BC"/>
                </a:solidFill>
                <a:latin typeface="Arial"/>
                <a:cs typeface="Arial"/>
                <a:ea typeface="Arial"/>
              </a:rPr>
              <a:t>03</a:t>
            </a:r>
          </a:p>
        </p:txBody>
      </p:sp>
      <p:sp>
        <p:nvSpPr>
          <p:cNvPr id="20" name="TextBox 19"/>
          <p:cNvSpPr txBox="1"/>
          <p:nvPr/>
        </p:nvSpPr>
        <p:spPr>
          <a:xfrm>
            <a:off x="2578607" y="2569464"/>
            <a:ext cx="2304288" cy="475488"/>
          </a:xfrm>
          <a:prstGeom prst="rect">
            <a:avLst/>
          </a:prstGeom>
          <a:noFill/>
        </p:spPr>
        <p:txBody>
          <a:bodyPr wrap="square" lIns="25400" rIns="25400" tIns="12700" bIns="12700">
            <a:spAutoFit/>
          </a:bodyPr>
          <a:lstStyle/>
          <a:p>
            <a:pPr algn="r" rtl="1">
              <a:spcAft>
                <a:spcPts val="400"/>
              </a:spcAft>
            </a:pPr>
            <a:r>
              <a:rPr sz="2300" b="1" lang="ar-DZ">
                <a:solidFill>
                  <a:srgbClr val="F5F7F4"/>
                </a:solidFill>
                <a:latin typeface="Arial"/>
                <a:cs typeface="Arial"/>
                <a:ea typeface="Arial"/>
              </a:rPr>
              <a:t>عادة مستدامة</a:t>
            </a:r>
          </a:p>
        </p:txBody>
      </p:sp>
      <p:sp>
        <p:nvSpPr>
          <p:cNvPr id="21" name="TextBox 20"/>
          <p:cNvSpPr txBox="1"/>
          <p:nvPr/>
        </p:nvSpPr>
        <p:spPr>
          <a:xfrm>
            <a:off x="2578607" y="3108960"/>
            <a:ext cx="2304288" cy="1234439"/>
          </a:xfrm>
          <a:prstGeom prst="rect">
            <a:avLst/>
          </a:prstGeom>
          <a:noFill/>
        </p:spPr>
        <p:txBody>
          <a:bodyPr wrap="square" lIns="25400" rIns="25400" tIns="12700" bIns="12700">
            <a:spAutoFit/>
          </a:bodyPr>
          <a:lstStyle/>
          <a:p>
            <a:pPr algn="r" rtl="1">
              <a:spcAft>
                <a:spcPts val="400"/>
              </a:spcAft>
            </a:pPr>
            <a:r>
              <a:rPr sz="1800" b="0" lang="ar-DZ">
                <a:solidFill>
                  <a:srgbClr val="AFC0C7"/>
                </a:solidFill>
                <a:latin typeface="Arial"/>
                <a:cs typeface="Arial"/>
                <a:ea typeface="Arial"/>
              </a:rPr>
              <a:t>حصتان أساسيتان</a:t>
            </a:r>
          </a:p>
          <a:p>
            <a:pPr algn="r" rtl="1">
              <a:spcAft>
                <a:spcPts val="400"/>
              </a:spcAft>
            </a:pPr>
            <a:r>
              <a:rPr sz="1800" b="0" lang="ar-DZ">
                <a:solidFill>
                  <a:srgbClr val="AFC0C7"/>
                </a:solidFill>
                <a:latin typeface="Arial"/>
                <a:cs typeface="Arial"/>
                <a:ea typeface="Arial"/>
              </a:rPr>
              <a:t>يمكن الالتزام بهما</a:t>
            </a:r>
          </a:p>
        </p:txBody>
      </p:sp>
      <p:pic>
        <p:nvPicPr>
          <p:cNvPr id="22" name="Picture 21" descr="pushup.jpg"/>
          <p:cNvPicPr>
            <a:picLocks noChangeAspect="1"/>
          </p:cNvPicPr>
          <p:nvPr/>
        </p:nvPicPr>
        <p:blipFill>
          <a:blip r:embed="rId2"/>
          <a:srcRect l="406" r="406"/>
          <a:stretch>
            <a:fillRect/>
          </a:stretch>
        </p:blipFill>
        <p:spPr>
          <a:xfrm>
            <a:off x="640080" y="1984248"/>
            <a:ext cx="1600200" cy="2423160"/>
          </a:xfrm>
          <a:prstGeom prst="rect">
            <a:avLst/>
          </a:prstGeom>
        </p:spPr>
      </p:pic>
      <p:sp>
        <p:nvSpPr>
          <p:cNvPr id="23" name="TextBox 22"/>
          <p:cNvSpPr txBox="1"/>
          <p:nvPr/>
        </p:nvSpPr>
        <p:spPr>
          <a:xfrm>
            <a:off x="777240" y="4718304"/>
            <a:ext cx="10607040" cy="502920"/>
          </a:xfrm>
          <a:prstGeom prst="rect">
            <a:avLst/>
          </a:prstGeom>
          <a:noFill/>
        </p:spPr>
        <p:txBody>
          <a:bodyPr wrap="square" lIns="25400" rIns="25400" tIns="12700" bIns="12700">
            <a:spAutoFit/>
          </a:bodyPr>
          <a:lstStyle/>
          <a:p>
            <a:pPr algn="r" rtl="1">
              <a:spcAft>
                <a:spcPts val="400"/>
              </a:spcAft>
            </a:pPr>
            <a:r>
              <a:rPr sz="2100" b="0" lang="ar-DZ">
                <a:solidFill>
                  <a:srgbClr val="AFC0C7"/>
                </a:solidFill>
                <a:latin typeface="Arial"/>
                <a:cs typeface="Arial"/>
                <a:ea typeface="Arial"/>
              </a:rPr>
              <a:t>الأدوات: أرض ثابتة • عقلة موثوقة • شريط مقاومة اختياري</a:t>
            </a:r>
          </a:p>
        </p:txBody>
      </p:sp>
      <p:sp>
        <p:nvSpPr>
          <p:cNvPr id="24" name="Rounded Rectangle 23"/>
          <p:cNvSpPr/>
          <p:nvPr/>
        </p:nvSpPr>
        <p:spPr>
          <a:xfrm>
            <a:off x="640080" y="5541264"/>
            <a:ext cx="10881360" cy="420624"/>
          </a:xfrm>
          <a:prstGeom prst="roundRect">
            <a:avLst>
              <a:gd name="adj" fmla="val 12000"/>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600700"/>
            <a:ext cx="10515600" cy="310896"/>
          </a:xfrm>
          <a:prstGeom prst="rect">
            <a:avLst/>
          </a:prstGeom>
          <a:noFill/>
        </p:spPr>
        <p:txBody>
          <a:bodyPr wrap="square" lIns="25400" rIns="25400" tIns="12700" bIns="12700">
            <a:spAutoFit/>
          </a:bodyPr>
          <a:lstStyle/>
          <a:p>
            <a:pPr algn="r" rtl="1">
              <a:spcAft>
                <a:spcPts val="400"/>
              </a:spcAft>
            </a:pPr>
            <a:r>
              <a:rPr sz="1600" b="1" lang="ar-DZ">
                <a:solidFill>
                  <a:srgbClr val="142633"/>
                </a:solidFill>
                <a:latin typeface="Arial"/>
                <a:cs typeface="Arial"/>
                <a:ea typeface="Arial"/>
              </a:rPr>
              <a:t>مثال هدف قابل للقياس: حصتان أسبوعيًا لمدة 8 أسابيع مع سجل أداء.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4"/>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536975"/>
                </a:solidFill>
                <a:latin typeface="Arial"/>
                <a:cs typeface="Arial"/>
                <a:ea typeface="Arial"/>
              </a:rPr>
              <a:t>02 / تشخيص المشكلة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536975"/>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06 / 15</a:t>
            </a:r>
          </a:p>
        </p:txBody>
      </p:sp>
      <p:sp>
        <p:nvSpPr>
          <p:cNvPr id="8" name="Rectangle 7"/>
          <p:cNvSpPr/>
          <p:nvPr/>
        </p:nvSpPr>
        <p:spPr>
          <a:xfrm>
            <a:off x="548640" y="6803136"/>
            <a:ext cx="4425696"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142633"/>
                </a:solidFill>
                <a:latin typeface="Arial"/>
                <a:cs typeface="Arial"/>
                <a:ea typeface="Arial"/>
              </a:rPr>
              <a:t>لماذا يتعثر التقدّم؟</a:t>
            </a:r>
          </a:p>
        </p:txBody>
      </p:sp>
      <p:sp>
        <p:nvSpPr>
          <p:cNvPr id="10" name="Rounded Rectangle 9"/>
          <p:cNvSpPr/>
          <p:nvPr/>
        </p:nvSpPr>
        <p:spPr>
          <a:xfrm>
            <a:off x="6291072" y="1856231"/>
            <a:ext cx="5230368" cy="521207"/>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947672"/>
            <a:ext cx="4864608" cy="338328"/>
          </a:xfrm>
          <a:prstGeom prst="rect">
            <a:avLst/>
          </a:prstGeom>
          <a:noFill/>
        </p:spPr>
        <p:txBody>
          <a:bodyPr wrap="square" lIns="25400" rIns="25400" tIns="12700" bIns="12700">
            <a:spAutoFit/>
          </a:bodyPr>
          <a:lstStyle/>
          <a:p>
            <a:pPr algn="r" rtl="1">
              <a:spcAft>
                <a:spcPts val="400"/>
              </a:spcAft>
            </a:pPr>
            <a:r>
              <a:rPr sz="2100" b="1" lang="ar-DZ">
                <a:solidFill>
                  <a:srgbClr val="F5F7F4"/>
                </a:solidFill>
                <a:latin typeface="Arial"/>
                <a:cs typeface="Arial"/>
                <a:ea typeface="Arial"/>
              </a:rPr>
              <a:t>العائق</a:t>
            </a:r>
          </a:p>
        </p:txBody>
      </p:sp>
      <p:sp>
        <p:nvSpPr>
          <p:cNvPr id="12" name="Rounded Rectangle 11"/>
          <p:cNvSpPr/>
          <p:nvPr/>
        </p:nvSpPr>
        <p:spPr>
          <a:xfrm>
            <a:off x="658368" y="1856231"/>
            <a:ext cx="5230368" cy="521207"/>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1947672"/>
            <a:ext cx="4864608" cy="338328"/>
          </a:xfrm>
          <a:prstGeom prst="rect">
            <a:avLst/>
          </a:prstGeom>
          <a:noFill/>
        </p:spPr>
        <p:txBody>
          <a:bodyPr wrap="square" lIns="25400" rIns="25400" tIns="12700" bIns="12700">
            <a:spAutoFit/>
          </a:bodyPr>
          <a:lstStyle/>
          <a:p>
            <a:pPr algn="r" rtl="1">
              <a:spcAft>
                <a:spcPts val="400"/>
              </a:spcAft>
            </a:pPr>
            <a:r>
              <a:rPr sz="2100" b="1" lang="ar-DZ">
                <a:solidFill>
                  <a:srgbClr val="F5F7F4"/>
                </a:solidFill>
                <a:latin typeface="Arial"/>
                <a:cs typeface="Arial"/>
                <a:ea typeface="Arial"/>
              </a:rPr>
              <a:t>الاستجابة العملية</a:t>
            </a:r>
          </a:p>
        </p:txBody>
      </p:sp>
      <p:sp>
        <p:nvSpPr>
          <p:cNvPr id="14" name="Rounded Rectangle 13"/>
          <p:cNvSpPr/>
          <p:nvPr/>
        </p:nvSpPr>
        <p:spPr>
          <a:xfrm>
            <a:off x="6291072" y="2542032"/>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660903"/>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تقليد مستوى متقدم</a:t>
            </a:r>
          </a:p>
        </p:txBody>
      </p:sp>
      <p:sp>
        <p:nvSpPr>
          <p:cNvPr id="16" name="Rounded Rectangle 15"/>
          <p:cNvSpPr/>
          <p:nvPr/>
        </p:nvSpPr>
        <p:spPr>
          <a:xfrm>
            <a:off x="658368" y="2542032"/>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2660903"/>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نسخة أسهل يمكن التحكّم بها</a:t>
            </a:r>
          </a:p>
        </p:txBody>
      </p:sp>
      <p:sp>
        <p:nvSpPr>
          <p:cNvPr id="18" name="TextBox 17"/>
          <p:cNvSpPr txBox="1"/>
          <p:nvPr/>
        </p:nvSpPr>
        <p:spPr>
          <a:xfrm>
            <a:off x="5888736" y="2660903"/>
            <a:ext cx="393192" cy="365760"/>
          </a:xfrm>
          <a:prstGeom prst="rect">
            <a:avLst/>
          </a:prstGeom>
          <a:noFill/>
        </p:spPr>
        <p:txBody>
          <a:bodyPr wrap="square" lIns="25400" rIns="25400" tIns="12700" bIns="12700">
            <a:spAutoFit/>
          </a:bodyPr>
          <a:lstStyle/>
          <a:p>
            <a:pPr algn="ctr" rtl="1">
              <a:spcAft>
                <a:spcPts val="400"/>
              </a:spcAft>
            </a:pPr>
            <a:r>
              <a:rPr sz="2400" b="0" lang="ar-DZ">
                <a:solidFill>
                  <a:srgbClr val="536975"/>
                </a:solidFill>
                <a:latin typeface="Arial"/>
                <a:cs typeface="Arial"/>
                <a:ea typeface="Arial"/>
              </a:rPr>
              <a:t>←</a:t>
            </a:r>
          </a:p>
        </p:txBody>
      </p:sp>
      <p:sp>
        <p:nvSpPr>
          <p:cNvPr id="19" name="Rounded Rectangle 18"/>
          <p:cNvSpPr/>
          <p:nvPr/>
        </p:nvSpPr>
        <p:spPr>
          <a:xfrm>
            <a:off x="6291072" y="3264408"/>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383279"/>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دفع كثير وسحب قليل</a:t>
            </a:r>
          </a:p>
        </p:txBody>
      </p:sp>
      <p:sp>
        <p:nvSpPr>
          <p:cNvPr id="21" name="Rounded Rectangle 20"/>
          <p:cNvSpPr/>
          <p:nvPr/>
        </p:nvSpPr>
        <p:spPr>
          <a:xfrm>
            <a:off x="658368" y="3264408"/>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3383279"/>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توازن بين أنماط الحركة</a:t>
            </a:r>
          </a:p>
        </p:txBody>
      </p:sp>
      <p:sp>
        <p:nvSpPr>
          <p:cNvPr id="23" name="TextBox 22"/>
          <p:cNvSpPr txBox="1"/>
          <p:nvPr/>
        </p:nvSpPr>
        <p:spPr>
          <a:xfrm>
            <a:off x="5888736" y="3383279"/>
            <a:ext cx="393192" cy="365760"/>
          </a:xfrm>
          <a:prstGeom prst="rect">
            <a:avLst/>
          </a:prstGeom>
          <a:noFill/>
        </p:spPr>
        <p:txBody>
          <a:bodyPr wrap="square" lIns="25400" rIns="25400" tIns="12700" bIns="12700">
            <a:spAutoFit/>
          </a:bodyPr>
          <a:lstStyle/>
          <a:p>
            <a:pPr algn="ctr" rtl="1">
              <a:spcAft>
                <a:spcPts val="400"/>
              </a:spcAft>
            </a:pPr>
            <a:r>
              <a:rPr sz="2400" b="0" lang="ar-DZ">
                <a:solidFill>
                  <a:srgbClr val="536975"/>
                </a:solidFill>
                <a:latin typeface="Arial"/>
                <a:cs typeface="Arial"/>
                <a:ea typeface="Arial"/>
              </a:rPr>
              <a:t>←</a:t>
            </a:r>
          </a:p>
        </p:txBody>
      </p:sp>
      <p:sp>
        <p:nvSpPr>
          <p:cNvPr id="24" name="Rounded Rectangle 23"/>
          <p:cNvSpPr/>
          <p:nvPr/>
        </p:nvSpPr>
        <p:spPr>
          <a:xfrm>
            <a:off x="6291072" y="3986783"/>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3952" y="4105655"/>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اختبارات قصوى متكررة</a:t>
            </a:r>
          </a:p>
        </p:txBody>
      </p:sp>
      <p:sp>
        <p:nvSpPr>
          <p:cNvPr id="26" name="Rounded Rectangle 25"/>
          <p:cNvSpPr/>
          <p:nvPr/>
        </p:nvSpPr>
        <p:spPr>
          <a:xfrm>
            <a:off x="658368" y="3986783"/>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4105655"/>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تدريب دون استنزاف دائم</a:t>
            </a:r>
          </a:p>
        </p:txBody>
      </p:sp>
      <p:sp>
        <p:nvSpPr>
          <p:cNvPr id="28" name="TextBox 27"/>
          <p:cNvSpPr txBox="1"/>
          <p:nvPr/>
        </p:nvSpPr>
        <p:spPr>
          <a:xfrm>
            <a:off x="5888736" y="4105655"/>
            <a:ext cx="393192" cy="365760"/>
          </a:xfrm>
          <a:prstGeom prst="rect">
            <a:avLst/>
          </a:prstGeom>
          <a:noFill/>
        </p:spPr>
        <p:txBody>
          <a:bodyPr wrap="square" lIns="25400" rIns="25400" tIns="12700" bIns="12700">
            <a:spAutoFit/>
          </a:bodyPr>
          <a:lstStyle/>
          <a:p>
            <a:pPr algn="ctr" rtl="1">
              <a:spcAft>
                <a:spcPts val="400"/>
              </a:spcAft>
            </a:pPr>
            <a:r>
              <a:rPr sz="2400" b="0" lang="ar-DZ">
                <a:solidFill>
                  <a:srgbClr val="536975"/>
                </a:solidFill>
                <a:latin typeface="Arial"/>
                <a:cs typeface="Arial"/>
                <a:ea typeface="Arial"/>
              </a:rPr>
              <a:t>←</a:t>
            </a:r>
          </a:p>
        </p:txBody>
      </p:sp>
      <p:sp>
        <p:nvSpPr>
          <p:cNvPr id="29" name="Rounded Rectangle 28"/>
          <p:cNvSpPr/>
          <p:nvPr/>
        </p:nvSpPr>
        <p:spPr>
          <a:xfrm>
            <a:off x="6291072" y="4709160"/>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4828032"/>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غياب السجل والتعافي</a:t>
            </a:r>
          </a:p>
        </p:txBody>
      </p:sp>
      <p:sp>
        <p:nvSpPr>
          <p:cNvPr id="31" name="Rounded Rectangle 30"/>
          <p:cNvSpPr/>
          <p:nvPr/>
        </p:nvSpPr>
        <p:spPr>
          <a:xfrm>
            <a:off x="658368" y="4709160"/>
            <a:ext cx="5230368" cy="585216"/>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7" y="4828032"/>
            <a:ext cx="4864608" cy="402336"/>
          </a:xfrm>
          <a:prstGeom prst="rect">
            <a:avLst/>
          </a:prstGeom>
          <a:noFill/>
        </p:spPr>
        <p:txBody>
          <a:bodyPr wrap="square" lIns="25400" rIns="25400" tIns="12700" bIns="12700">
            <a:spAutoFit/>
          </a:bodyPr>
          <a:lstStyle/>
          <a:p>
            <a:pPr algn="r" rtl="1">
              <a:spcAft>
                <a:spcPts val="400"/>
              </a:spcAft>
            </a:pPr>
            <a:r>
              <a:rPr sz="2100" b="0" lang="ar-DZ">
                <a:solidFill>
                  <a:srgbClr val="142633"/>
                </a:solidFill>
                <a:latin typeface="Arial"/>
                <a:cs typeface="Arial"/>
                <a:ea typeface="Arial"/>
              </a:rPr>
              <a:t>متابعة بسيطة وراحة منتظمة</a:t>
            </a:r>
          </a:p>
        </p:txBody>
      </p:sp>
      <p:sp>
        <p:nvSpPr>
          <p:cNvPr id="33" name="TextBox 32"/>
          <p:cNvSpPr txBox="1"/>
          <p:nvPr/>
        </p:nvSpPr>
        <p:spPr>
          <a:xfrm>
            <a:off x="5888736" y="4828032"/>
            <a:ext cx="393192" cy="365760"/>
          </a:xfrm>
          <a:prstGeom prst="rect">
            <a:avLst/>
          </a:prstGeom>
          <a:noFill/>
        </p:spPr>
        <p:txBody>
          <a:bodyPr wrap="square" lIns="25400" rIns="25400" tIns="12700" bIns="12700">
            <a:spAutoFit/>
          </a:bodyPr>
          <a:lstStyle/>
          <a:p>
            <a:pPr algn="ctr" rtl="1">
              <a:spcAft>
                <a:spcPts val="400"/>
              </a:spcAft>
            </a:pPr>
            <a:r>
              <a:rPr sz="2400" b="0" lang="ar-DZ">
                <a:solidFill>
                  <a:srgbClr val="536975"/>
                </a:solidFill>
                <a:latin typeface="Arial"/>
                <a:cs typeface="Arial"/>
                <a:ea typeface="Arial"/>
              </a:rPr>
              <a:t>←</a:t>
            </a:r>
          </a:p>
        </p:txBody>
      </p:sp>
      <p:sp>
        <p:nvSpPr>
          <p:cNvPr id="34" name="Rounded Rectangle 33"/>
          <p:cNvSpPr/>
          <p:nvPr/>
        </p:nvSpPr>
        <p:spPr>
          <a:xfrm>
            <a:off x="640080" y="5696712"/>
            <a:ext cx="10881360" cy="420624"/>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756148"/>
            <a:ext cx="10515600" cy="310896"/>
          </a:xfrm>
          <a:prstGeom prst="rect">
            <a:avLst/>
          </a:prstGeom>
          <a:noFill/>
        </p:spPr>
        <p:txBody>
          <a:bodyPr wrap="square" lIns="25400" rIns="25400" tIns="12700" bIns="12700">
            <a:spAutoFit/>
          </a:bodyPr>
          <a:lstStyle/>
          <a:p>
            <a:pPr algn="r" rtl="1">
              <a:spcAft>
                <a:spcPts val="400"/>
              </a:spcAft>
            </a:pPr>
            <a:r>
              <a:rPr sz="1600" b="1" lang="ar-DZ">
                <a:solidFill>
                  <a:srgbClr val="F5F7F4"/>
                </a:solidFill>
                <a:latin typeface="Arial"/>
                <a:cs typeface="Arial"/>
                <a:ea typeface="Arial"/>
              </a:rPr>
              <a:t>زيادة الجهد ليست دائمًا الحل؛ صحّح الجرعة والتقنية أولًا.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4"/>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536975"/>
                </a:solidFill>
                <a:latin typeface="Arial"/>
                <a:cs typeface="Arial"/>
                <a:ea typeface="Arial"/>
              </a:rPr>
              <a:t>03 / التمارين والمهارات</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536975"/>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07 / 15</a:t>
            </a:r>
          </a:p>
        </p:txBody>
      </p:sp>
      <p:sp>
        <p:nvSpPr>
          <p:cNvPr id="8" name="Rectangle 7"/>
          <p:cNvSpPr/>
          <p:nvPr/>
        </p:nvSpPr>
        <p:spPr>
          <a:xfrm>
            <a:off x="548640" y="6803136"/>
            <a:ext cx="5163312"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142633"/>
                </a:solidFill>
                <a:latin typeface="Arial"/>
                <a:cs typeface="Arial"/>
                <a:ea typeface="Arial"/>
              </a:rPr>
              <a:t>خريطة الحركة: جسم كامل، لا عضلة واحدة</a:t>
            </a:r>
          </a:p>
        </p:txBody>
      </p:sp>
      <p:graphicFrame>
        <p:nvGraphicFramePr>
          <p:cNvPr id="10" name="Table 9"/>
          <p:cNvGraphicFramePr>
            <a:graphicFrameLocks noGrp="1"/>
          </p:cNvGraphicFramePr>
          <p:nvPr/>
        </p:nvGraphicFramePr>
        <p:xfrm>
          <a:off x="658368" y="1901952"/>
          <a:ext cx="10835640" cy="3291840"/>
        </p:xfrm>
        <a:graphic>
          <a:graphicData uri="http://schemas.openxmlformats.org/drawingml/2006/table">
            <a:tbl>
              <a:tblPr firstRow="1" bandRow="1">
                <a:tableStyleId>{5C22544A-7EE6-4342-B048-85BDC9FD1C3A}</a:tableStyleId>
              </a:tblPr>
              <a:tblGrid>
                <a:gridCol w="2834640"/>
                <a:gridCol w="5394960"/>
                <a:gridCol w="2606040"/>
              </a:tblGrid>
              <a:tr h="548640">
                <a:tc>
                  <a:txBody>
                    <a:bodyPr/>
                    <a:lstStyle/>
                    <a:p>
                      <a:pPr algn="r" rtl="1"/>
                      <a:r>
                        <a:rPr sz="1800" b="1">
                          <a:solidFill>
                            <a:srgbClr val="F5F7F4"/>
                          </a:solidFill>
                          <a:latin typeface="Arial"/>
                          <a:cs typeface="Arial"/>
                        </a:rPr>
                        <a:t>مفتاح التقنية</a:t>
                      </a:r>
                    </a:p>
                  </a:txBody>
                  <a:tcPr marL="118872" marR="118872" marT="54864" marB="36576" anchor="ctr">
                    <a:solidFill>
                      <a:srgbClr val="142633"/>
                    </a:solidFill>
                  </a:tcPr>
                </a:tc>
                <a:tc>
                  <a:txBody>
                    <a:bodyPr/>
                    <a:lstStyle/>
                    <a:p>
                      <a:pPr algn="r" rtl="1"/>
                      <a:r>
                        <a:rPr sz="1800" b="1">
                          <a:solidFill>
                            <a:srgbClr val="F5F7F4"/>
                          </a:solidFill>
                          <a:latin typeface="Arial"/>
                          <a:cs typeface="Arial"/>
                        </a:rPr>
                        <a:t>مثال مناسب للتدرّج</a:t>
                      </a:r>
                    </a:p>
                  </a:txBody>
                  <a:tcPr marL="118872" marR="118872" marT="54864" marB="36576" anchor="ctr">
                    <a:solidFill>
                      <a:srgbClr val="142633"/>
                    </a:solidFill>
                  </a:tcPr>
                </a:tc>
                <a:tc>
                  <a:txBody>
                    <a:bodyPr/>
                    <a:lstStyle/>
                    <a:p>
                      <a:pPr algn="r" rtl="1"/>
                      <a:r>
                        <a:rPr sz="1800" b="1">
                          <a:solidFill>
                            <a:srgbClr val="F5F7F4"/>
                          </a:solidFill>
                          <a:latin typeface="Arial"/>
                          <a:cs typeface="Arial"/>
                        </a:rPr>
                        <a:t>نمط الحركة</a:t>
                      </a:r>
                    </a:p>
                  </a:txBody>
                  <a:tcPr marL="118872" marR="118872" marT="54864" marB="36576" anchor="ctr">
                    <a:solidFill>
                      <a:srgbClr val="142633"/>
                    </a:solidFill>
                  </a:tcPr>
                </a:tc>
              </a:tr>
              <a:tr h="548640">
                <a:tc>
                  <a:txBody>
                    <a:bodyPr/>
                    <a:lstStyle/>
                    <a:p>
                      <a:pPr algn="r" rtl="1"/>
                      <a:r>
                        <a:rPr sz="1800" b="0">
                          <a:solidFill>
                            <a:srgbClr val="142633"/>
                          </a:solidFill>
                          <a:latin typeface="Arial"/>
                          <a:cs typeface="Arial"/>
                        </a:rPr>
                        <a:t>جذع متماسك</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ضغط مائل ← أرضي (Push-up)</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دفع أفقي</a:t>
                      </a:r>
                    </a:p>
                  </a:txBody>
                  <a:tcPr marL="118872" marR="118872" marT="54864" marB="36576" anchor="ctr">
                    <a:solidFill>
                      <a:srgbClr val="E5EDEA"/>
                    </a:solidFill>
                  </a:tcPr>
                </a:tc>
              </a:tr>
              <a:tr h="548640">
                <a:tc>
                  <a:txBody>
                    <a:bodyPr/>
                    <a:lstStyle/>
                    <a:p>
                      <a:pPr algn="r" rtl="1"/>
                      <a:r>
                        <a:rPr sz="1800" b="0">
                          <a:solidFill>
                            <a:srgbClr val="142633"/>
                          </a:solidFill>
                          <a:latin typeface="Arial"/>
                          <a:cs typeface="Arial"/>
                        </a:rPr>
                        <a:t>دون تأرجح</a:t>
                      </a:r>
                    </a:p>
                  </a:txBody>
                  <a:tcPr marL="118872" marR="118872" marT="54864" marB="36576" anchor="ctr">
                    <a:solidFill>
                      <a:srgbClr val="EDF2EF"/>
                    </a:solidFill>
                  </a:tcPr>
                </a:tc>
                <a:tc>
                  <a:txBody>
                    <a:bodyPr/>
                    <a:lstStyle/>
                    <a:p>
                      <a:pPr algn="r" rtl="1"/>
                      <a:r>
                        <a:rPr sz="1800" b="0">
                          <a:solidFill>
                            <a:srgbClr val="142633"/>
                          </a:solidFill>
                          <a:latin typeface="Arial"/>
                          <a:cs typeface="Arial"/>
                        </a:rPr>
                        <a:t>تجديف ← عقلة بمساعدة (Row / Pull-up)</a:t>
                      </a:r>
                    </a:p>
                  </a:txBody>
                  <a:tcPr marL="118872" marR="118872" marT="54864" marB="36576" anchor="ctr">
                    <a:solidFill>
                      <a:srgbClr val="EDF2EF"/>
                    </a:solidFill>
                  </a:tcPr>
                </a:tc>
                <a:tc>
                  <a:txBody>
                    <a:bodyPr/>
                    <a:lstStyle/>
                    <a:p>
                      <a:pPr algn="r" rtl="1"/>
                      <a:r>
                        <a:rPr sz="1800" b="0">
                          <a:solidFill>
                            <a:srgbClr val="142633"/>
                          </a:solidFill>
                          <a:latin typeface="Arial"/>
                          <a:cs typeface="Arial"/>
                        </a:rPr>
                        <a:t>سحب</a:t>
                      </a:r>
                    </a:p>
                  </a:txBody>
                  <a:tcPr marL="118872" marR="118872" marT="54864" marB="36576" anchor="ctr">
                    <a:solidFill>
                      <a:srgbClr val="EDF2EF"/>
                    </a:solidFill>
                  </a:tcPr>
                </a:tc>
              </a:tr>
              <a:tr h="548640">
                <a:tc>
                  <a:txBody>
                    <a:bodyPr/>
                    <a:lstStyle/>
                    <a:p>
                      <a:pPr algn="r" rtl="1"/>
                      <a:r>
                        <a:rPr sz="1800" b="0">
                          <a:solidFill>
                            <a:srgbClr val="142633"/>
                          </a:solidFill>
                          <a:latin typeface="Arial"/>
                          <a:cs typeface="Arial"/>
                        </a:rPr>
                        <a:t>مدى مريح للكتف</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ضغط بايك (Pike Push-up)</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دفع رأسي</a:t>
                      </a:r>
                    </a:p>
                  </a:txBody>
                  <a:tcPr marL="118872" marR="118872" marT="54864" marB="36576" anchor="ctr">
                    <a:solidFill>
                      <a:srgbClr val="E5EDEA"/>
                    </a:solidFill>
                  </a:tcPr>
                </a:tc>
              </a:tr>
              <a:tr h="548640">
                <a:tc>
                  <a:txBody>
                    <a:bodyPr/>
                    <a:lstStyle/>
                    <a:p>
                      <a:pPr algn="r" rtl="1"/>
                      <a:r>
                        <a:rPr sz="1800" b="0">
                          <a:solidFill>
                            <a:srgbClr val="142633"/>
                          </a:solidFill>
                          <a:latin typeface="Arial"/>
                          <a:cs typeface="Arial"/>
                        </a:rPr>
                        <a:t>اتزان وتحكّم</a:t>
                      </a:r>
                    </a:p>
                  </a:txBody>
                  <a:tcPr marL="118872" marR="118872" marT="54864" marB="36576" anchor="ctr">
                    <a:solidFill>
                      <a:srgbClr val="EDF2EF"/>
                    </a:solidFill>
                  </a:tcPr>
                </a:tc>
                <a:tc>
                  <a:txBody>
                    <a:bodyPr/>
                    <a:lstStyle/>
                    <a:p>
                      <a:pPr algn="r" rtl="1"/>
                      <a:r>
                        <a:rPr sz="1800" b="0">
                          <a:solidFill>
                            <a:srgbClr val="142633"/>
                          </a:solidFill>
                          <a:latin typeface="Arial"/>
                          <a:cs typeface="Arial"/>
                        </a:rPr>
                        <a:t>قرفصاء ← اندفاع (Squat / Lunge)</a:t>
                      </a:r>
                    </a:p>
                  </a:txBody>
                  <a:tcPr marL="118872" marR="118872" marT="54864" marB="36576" anchor="ctr">
                    <a:solidFill>
                      <a:srgbClr val="EDF2EF"/>
                    </a:solidFill>
                  </a:tcPr>
                </a:tc>
                <a:tc>
                  <a:txBody>
                    <a:bodyPr/>
                    <a:lstStyle/>
                    <a:p>
                      <a:pPr algn="r" rtl="1"/>
                      <a:r>
                        <a:rPr sz="1800" b="0">
                          <a:solidFill>
                            <a:srgbClr val="142633"/>
                          </a:solidFill>
                          <a:latin typeface="Arial"/>
                          <a:cs typeface="Arial"/>
                        </a:rPr>
                        <a:t>الرجلان</a:t>
                      </a:r>
                    </a:p>
                  </a:txBody>
                  <a:tcPr marL="118872" marR="118872" marT="54864" marB="36576" anchor="ctr">
                    <a:solidFill>
                      <a:srgbClr val="EDF2EF"/>
                    </a:solidFill>
                  </a:tcPr>
                </a:tc>
              </a:tr>
              <a:tr h="548640">
                <a:tc>
                  <a:txBody>
                    <a:bodyPr/>
                    <a:lstStyle/>
                    <a:p>
                      <a:pPr algn="r" rtl="1"/>
                      <a:r>
                        <a:rPr sz="1800" b="0">
                          <a:solidFill>
                            <a:srgbClr val="142633"/>
                          </a:solidFill>
                          <a:latin typeface="Arial"/>
                          <a:cs typeface="Arial"/>
                        </a:rPr>
                        <a:t>تحكّم وتنفس</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جسر الأرداف + بلانك (Bridge / Plank)</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الورك والجذع</a:t>
                      </a:r>
                    </a:p>
                  </a:txBody>
                  <a:tcPr marL="118872" marR="118872" marT="54864" marB="36576" anchor="ctr">
                    <a:solidFill>
                      <a:srgbClr val="E5EDEA"/>
                    </a:solidFill>
                  </a:tcPr>
                </a:tc>
              </a:tr>
            </a:tbl>
          </a:graphicData>
        </a:graphic>
      </p:graphicFrame>
      <p:sp>
        <p:nvSpPr>
          <p:cNvPr id="11" name="TextBox 10"/>
          <p:cNvSpPr txBox="1"/>
          <p:nvPr/>
        </p:nvSpPr>
        <p:spPr>
          <a:xfrm>
            <a:off x="731520" y="5440680"/>
            <a:ext cx="10698480" cy="329184"/>
          </a:xfrm>
          <a:prstGeom prst="rect">
            <a:avLst/>
          </a:prstGeom>
          <a:noFill/>
        </p:spPr>
        <p:txBody>
          <a:bodyPr wrap="square" lIns="25400" rIns="25400" tIns="12700" bIns="12700">
            <a:spAutoFit/>
          </a:bodyPr>
          <a:lstStyle/>
          <a:p>
            <a:pPr algn="r" rtl="1">
              <a:spcAft>
                <a:spcPts val="400"/>
              </a:spcAft>
            </a:pPr>
            <a:r>
              <a:rPr sz="2100" b="1" lang="ar-DZ">
                <a:solidFill>
                  <a:srgbClr val="142633"/>
                </a:solidFill>
                <a:latin typeface="Arial"/>
                <a:cs typeface="Arial"/>
                <a:ea typeface="Arial"/>
              </a:rPr>
              <a:t>لاحقًا: الوقوف على اليدين • L-sit • Front Lever • Muscle-up</a:t>
            </a:r>
          </a:p>
        </p:txBody>
      </p:sp>
      <p:sp>
        <p:nvSpPr>
          <p:cNvPr id="12" name="TextBox 11"/>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536975"/>
                </a:solidFill>
                <a:latin typeface="Arial"/>
                <a:cs typeface="Arial"/>
                <a:ea typeface="Arial"/>
              </a:rPr>
              <a:t>المهارات المتقدمة تحتاج إعدادًا خاصًا؛ ليست تمارين بداية ولا شرطًا للاستفادة.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03 / أمثلة تطبيقية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08 / 15</a:t>
            </a:r>
          </a:p>
        </p:txBody>
      </p:sp>
      <p:sp>
        <p:nvSpPr>
          <p:cNvPr id="8" name="Rectangle 7"/>
          <p:cNvSpPr/>
          <p:nvPr/>
        </p:nvSpPr>
        <p:spPr>
          <a:xfrm>
            <a:off x="548640" y="6803136"/>
            <a:ext cx="5900928"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مساران تطبيقيان… لا وصفة واحدة</a:t>
            </a:r>
          </a:p>
        </p:txBody>
      </p:sp>
      <p:pic>
        <p:nvPicPr>
          <p:cNvPr id="10" name="Picture 9" descr="incline.jpg"/>
          <p:cNvPicPr>
            <a:picLocks noChangeAspect="1"/>
          </p:cNvPicPr>
          <p:nvPr/>
        </p:nvPicPr>
        <p:blipFill>
          <a:blip r:embed="rId2"/>
          <a:srcRect l="1454" r="1454"/>
          <a:stretch>
            <a:fillRect/>
          </a:stretch>
        </p:blipFill>
        <p:spPr>
          <a:xfrm>
            <a:off x="640080" y="1874519"/>
            <a:ext cx="2560320" cy="3950208"/>
          </a:xfrm>
          <a:prstGeom prst="rect">
            <a:avLst/>
          </a:prstGeom>
        </p:spPr>
      </p:pic>
      <p:sp>
        <p:nvSpPr>
          <p:cNvPr id="11" name="Rounded Rectangle 10"/>
          <p:cNvSpPr/>
          <p:nvPr/>
        </p:nvSpPr>
        <p:spPr>
          <a:xfrm>
            <a:off x="7525512" y="1874519"/>
            <a:ext cx="3995928" cy="3374136"/>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63072" y="2057400"/>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49D3BC"/>
                </a:solidFill>
                <a:latin typeface="Arial"/>
                <a:cs typeface="Arial"/>
                <a:ea typeface="Arial"/>
              </a:rPr>
              <a:t>01</a:t>
            </a:r>
          </a:p>
        </p:txBody>
      </p:sp>
      <p:sp>
        <p:nvSpPr>
          <p:cNvPr id="13" name="TextBox 12"/>
          <p:cNvSpPr txBox="1"/>
          <p:nvPr/>
        </p:nvSpPr>
        <p:spPr>
          <a:xfrm>
            <a:off x="7708392" y="2459736"/>
            <a:ext cx="3630168" cy="475488"/>
          </a:xfrm>
          <a:prstGeom prst="rect">
            <a:avLst/>
          </a:prstGeom>
          <a:noFill/>
        </p:spPr>
        <p:txBody>
          <a:bodyPr wrap="square" lIns="25400" rIns="25400" tIns="12700" bIns="12700">
            <a:spAutoFit/>
          </a:bodyPr>
          <a:lstStyle/>
          <a:p>
            <a:pPr algn="r" rtl="1">
              <a:spcAft>
                <a:spcPts val="400"/>
              </a:spcAft>
            </a:pPr>
            <a:r>
              <a:rPr sz="2300" b="1" lang="ar-DZ">
                <a:solidFill>
                  <a:srgbClr val="F5F7F4"/>
                </a:solidFill>
                <a:latin typeface="Arial"/>
                <a:cs typeface="Arial"/>
                <a:ea typeface="Arial"/>
              </a:rPr>
              <a:t>مسار المبتدئ</a:t>
            </a:r>
          </a:p>
        </p:txBody>
      </p:sp>
      <p:sp>
        <p:nvSpPr>
          <p:cNvPr id="14" name="TextBox 13"/>
          <p:cNvSpPr txBox="1"/>
          <p:nvPr/>
        </p:nvSpPr>
        <p:spPr>
          <a:xfrm>
            <a:off x="7708392" y="2999232"/>
            <a:ext cx="3630168" cy="2185415"/>
          </a:xfrm>
          <a:prstGeom prst="rect">
            <a:avLst/>
          </a:prstGeom>
          <a:noFill/>
        </p:spPr>
        <p:txBody>
          <a:bodyPr wrap="square" lIns="25400" rIns="25400" tIns="12700" bIns="12700">
            <a:spAutoFit/>
          </a:bodyPr>
          <a:lstStyle/>
          <a:p>
            <a:pPr algn="r" rtl="1">
              <a:spcAft>
                <a:spcPts val="400"/>
              </a:spcAft>
            </a:pPr>
            <a:r>
              <a:rPr sz="1800" b="0" lang="ar-DZ">
                <a:solidFill>
                  <a:srgbClr val="AFC0C7"/>
                </a:solidFill>
                <a:latin typeface="Arial"/>
                <a:cs typeface="Arial"/>
                <a:ea typeface="Arial"/>
              </a:rPr>
              <a:t>ضغط مرتفع + سحب سهل</a:t>
            </a:r>
          </a:p>
          <a:p>
            <a:pPr algn="r" rtl="1">
              <a:spcAft>
                <a:spcPts val="400"/>
              </a:spcAft>
            </a:pPr>
            <a:r>
              <a:rPr sz="1800" b="0" lang="ar-DZ">
                <a:solidFill>
                  <a:srgbClr val="AFC0C7"/>
                </a:solidFill>
                <a:latin typeface="Arial"/>
                <a:cs typeface="Arial"/>
                <a:ea typeface="Arial"/>
              </a:rPr>
              <a:t>قرفصاء + بلانك قصير</a:t>
            </a:r>
          </a:p>
          <a:p>
            <a:pPr algn="r" rtl="1">
              <a:spcAft>
                <a:spcPts val="400"/>
              </a:spcAft>
            </a:pPr>
            <a:r>
              <a:rPr sz="1800" b="0" lang="ar-DZ">
                <a:solidFill>
                  <a:srgbClr val="AFC0C7"/>
                </a:solidFill>
                <a:latin typeface="Arial"/>
                <a:cs typeface="Arial"/>
                <a:ea typeface="Arial"/>
              </a:rPr>
              <a:t/>
            </a:r>
          </a:p>
          <a:p>
            <a:pPr algn="r" rtl="1">
              <a:spcAft>
                <a:spcPts val="400"/>
              </a:spcAft>
            </a:pPr>
            <a:r>
              <a:rPr sz="1800" b="0" lang="ar-DZ">
                <a:solidFill>
                  <a:srgbClr val="AFC0C7"/>
                </a:solidFill>
                <a:latin typeface="Arial"/>
                <a:cs typeface="Arial"/>
                <a:ea typeface="Arial"/>
              </a:rPr>
              <a:t>زد التكرارات؛ ثم صعّب النسخة.</a:t>
            </a:r>
          </a:p>
        </p:txBody>
      </p:sp>
      <p:sp>
        <p:nvSpPr>
          <p:cNvPr id="15" name="Rounded Rectangle 14"/>
          <p:cNvSpPr/>
          <p:nvPr/>
        </p:nvSpPr>
        <p:spPr>
          <a:xfrm>
            <a:off x="3429000" y="1874519"/>
            <a:ext cx="3867912" cy="3374136"/>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2057400"/>
            <a:ext cx="411480" cy="365760"/>
          </a:xfrm>
          <a:prstGeom prst="rect">
            <a:avLst/>
          </a:prstGeom>
          <a:noFill/>
        </p:spPr>
        <p:txBody>
          <a:bodyPr wrap="square" lIns="25400" rIns="25400" tIns="12700" bIns="12700">
            <a:spAutoFit/>
          </a:bodyPr>
          <a:lstStyle/>
          <a:p>
            <a:pPr algn="ctr" rtl="0">
              <a:spcAft>
                <a:spcPts val="400"/>
              </a:spcAft>
            </a:pPr>
            <a:r>
              <a:rPr sz="1500" b="1" lang="en-US">
                <a:solidFill>
                  <a:srgbClr val="49D3BC"/>
                </a:solidFill>
                <a:latin typeface="Arial"/>
                <a:cs typeface="Arial"/>
                <a:ea typeface="Arial"/>
              </a:rPr>
              <a:t>02</a:t>
            </a:r>
          </a:p>
        </p:txBody>
      </p:sp>
      <p:sp>
        <p:nvSpPr>
          <p:cNvPr id="17" name="TextBox 16"/>
          <p:cNvSpPr txBox="1"/>
          <p:nvPr/>
        </p:nvSpPr>
        <p:spPr>
          <a:xfrm>
            <a:off x="3611880" y="2459736"/>
            <a:ext cx="3502152" cy="475488"/>
          </a:xfrm>
          <a:prstGeom prst="rect">
            <a:avLst/>
          </a:prstGeom>
          <a:noFill/>
        </p:spPr>
        <p:txBody>
          <a:bodyPr wrap="square" lIns="25400" rIns="25400" tIns="12700" bIns="12700">
            <a:spAutoFit/>
          </a:bodyPr>
          <a:lstStyle/>
          <a:p>
            <a:pPr algn="r" rtl="1">
              <a:spcAft>
                <a:spcPts val="400"/>
              </a:spcAft>
            </a:pPr>
            <a:r>
              <a:rPr sz="2300" b="1" lang="ar-DZ">
                <a:solidFill>
                  <a:srgbClr val="F5F7F4"/>
                </a:solidFill>
                <a:latin typeface="Arial"/>
                <a:cs typeface="Arial"/>
                <a:ea typeface="Arial"/>
              </a:rPr>
              <a:t>مسار المتوسط</a:t>
            </a:r>
          </a:p>
        </p:txBody>
      </p:sp>
      <p:sp>
        <p:nvSpPr>
          <p:cNvPr id="18" name="TextBox 17"/>
          <p:cNvSpPr txBox="1"/>
          <p:nvPr/>
        </p:nvSpPr>
        <p:spPr>
          <a:xfrm>
            <a:off x="3611880" y="2999232"/>
            <a:ext cx="3502152" cy="2185415"/>
          </a:xfrm>
          <a:prstGeom prst="rect">
            <a:avLst/>
          </a:prstGeom>
          <a:noFill/>
        </p:spPr>
        <p:txBody>
          <a:bodyPr wrap="square" lIns="25400" rIns="25400" tIns="12700" bIns="12700">
            <a:spAutoFit/>
          </a:bodyPr>
          <a:lstStyle/>
          <a:p>
            <a:pPr algn="r" rtl="1">
              <a:spcAft>
                <a:spcPts val="400"/>
              </a:spcAft>
            </a:pPr>
            <a:r>
              <a:rPr sz="1800" b="0" lang="ar-DZ">
                <a:solidFill>
                  <a:srgbClr val="AFC0C7"/>
                </a:solidFill>
                <a:latin typeface="Arial"/>
                <a:cs typeface="Arial"/>
                <a:ea typeface="Arial"/>
              </a:rPr>
              <a:t>أساسيات مستقرة + مهارة واحدة</a:t>
            </a:r>
          </a:p>
          <a:p>
            <a:pPr algn="r" rtl="1">
              <a:spcAft>
                <a:spcPts val="400"/>
              </a:spcAft>
            </a:pPr>
            <a:r>
              <a:rPr sz="1800" b="0" lang="ar-DZ">
                <a:solidFill>
                  <a:srgbClr val="AFC0C7"/>
                </a:solidFill>
                <a:latin typeface="Arial"/>
                <a:cs typeface="Arial"/>
                <a:ea typeface="Arial"/>
              </a:rPr>
              <a:t>تحمّل الرسغ ← بايك</a:t>
            </a:r>
          </a:p>
          <a:p>
            <a:pPr algn="r" rtl="1">
              <a:spcAft>
                <a:spcPts val="400"/>
              </a:spcAft>
            </a:pPr>
            <a:r>
              <a:rPr sz="1800" b="0" lang="ar-DZ">
                <a:solidFill>
                  <a:srgbClr val="AFC0C7"/>
                </a:solidFill>
                <a:latin typeface="Arial"/>
                <a:cs typeface="Arial"/>
                <a:ea typeface="Arial"/>
              </a:rPr>
              <a:t>← وقوف مدعوم على اليدين</a:t>
            </a:r>
          </a:p>
        </p:txBody>
      </p:sp>
      <p:sp>
        <p:nvSpPr>
          <p:cNvPr id="19" name="TextBox 18"/>
          <p:cNvSpPr txBox="1"/>
          <p:nvPr/>
        </p:nvSpPr>
        <p:spPr>
          <a:xfrm>
            <a:off x="3566160" y="5522976"/>
            <a:ext cx="7772400" cy="429768"/>
          </a:xfrm>
          <a:prstGeom prst="rect">
            <a:avLst/>
          </a:prstGeom>
          <a:noFill/>
        </p:spPr>
        <p:txBody>
          <a:bodyPr wrap="square" lIns="25400" rIns="25400" tIns="12700" bIns="12700">
            <a:spAutoFit/>
          </a:bodyPr>
          <a:lstStyle/>
          <a:p>
            <a:pPr algn="r" rtl="1">
              <a:spcAft>
                <a:spcPts val="400"/>
              </a:spcAft>
            </a:pPr>
            <a:r>
              <a:rPr sz="2000" b="1" lang="ar-DZ">
                <a:solidFill>
                  <a:srgbClr val="49D3BC"/>
                </a:solidFill>
                <a:latin typeface="Arial"/>
                <a:cs typeface="Arial"/>
                <a:ea typeface="Arial"/>
              </a:rPr>
              <a:t>معيار الانتقال: جودة ثابتة، لا مجرد انقضاء الوقت.</a:t>
            </a:r>
          </a:p>
        </p:txBody>
      </p:sp>
      <p:sp>
        <p:nvSpPr>
          <p:cNvPr id="20" name="TextBox 19"/>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AFC0C7"/>
                </a:solidFill>
                <a:latin typeface="Arial"/>
                <a:cs typeface="Arial"/>
                <a:ea typeface="Arial"/>
              </a:rPr>
              <a:t>حالتان افتراضيتان للتوضيح؛ لا تمثلان نتائج دراسة أو مسارًا إلزاميًا.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4"/>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536975"/>
                </a:solidFill>
                <a:latin typeface="Arial"/>
                <a:cs typeface="Arial"/>
                <a:ea typeface="Arial"/>
              </a:rPr>
              <a:t>04 / الدليل البحثي</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536975"/>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09 / 15</a:t>
            </a:r>
          </a:p>
        </p:txBody>
      </p:sp>
      <p:sp>
        <p:nvSpPr>
          <p:cNvPr id="8" name="Rectangle 7"/>
          <p:cNvSpPr/>
          <p:nvPr/>
        </p:nvSpPr>
        <p:spPr>
          <a:xfrm>
            <a:off x="548640" y="6803136"/>
            <a:ext cx="6638544"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142633"/>
                </a:solidFill>
                <a:latin typeface="Arial"/>
                <a:cs typeface="Arial"/>
                <a:ea typeface="Arial"/>
              </a:rPr>
              <a:t>ما الذي تقوله البيانات فعلًا؟</a:t>
            </a:r>
          </a:p>
        </p:txBody>
      </p:sp>
      <p:sp>
        <p:nvSpPr>
          <p:cNvPr id="10" name="TextBox 9"/>
          <p:cNvSpPr txBox="1"/>
          <p:nvPr/>
        </p:nvSpPr>
        <p:spPr>
          <a:xfrm>
            <a:off x="4663440" y="1874519"/>
            <a:ext cx="6858000" cy="338328"/>
          </a:xfrm>
          <a:prstGeom prst="rect">
            <a:avLst/>
          </a:prstGeom>
          <a:noFill/>
        </p:spPr>
        <p:txBody>
          <a:bodyPr wrap="square" lIns="25400" rIns="25400" tIns="12700" bIns="12700">
            <a:spAutoFit/>
          </a:bodyPr>
          <a:lstStyle/>
          <a:p>
            <a:pPr algn="r" rtl="1">
              <a:spcAft>
                <a:spcPts val="400"/>
              </a:spcAft>
            </a:pPr>
            <a:r>
              <a:rPr sz="1900" b="1" lang="ar-DZ">
                <a:solidFill>
                  <a:srgbClr val="142633"/>
                </a:solidFill>
                <a:latin typeface="Arial"/>
                <a:cs typeface="Arial"/>
                <a:ea typeface="Arial"/>
              </a:rPr>
              <a:t>تحسّن أداء الاختبار في مجموعة التدريب (%)</a:t>
            </a:r>
          </a:p>
        </p:txBody>
      </p:sp>
      <p:graphicFrame>
        <p:nvGraphicFramePr>
          <p:cNvPr id="11" name="Chart 10"/>
          <p:cNvGraphicFramePr>
            <a:graphicFrameLocks noGrp="1"/>
          </p:cNvGraphicFramePr>
          <p:nvPr/>
        </p:nvGraphicFramePr>
        <p:xfrm>
          <a:off x="4590288" y="2350008"/>
          <a:ext cx="6766560" cy="2660904"/>
        </p:xfrm>
        <a:graphic>
          <a:graphicData uri="http://schemas.openxmlformats.org/drawingml/2006/chart">
            <c:chart xmlns:c="http://schemas.openxmlformats.org/drawingml/2006/chart" r:id="rId2"/>
          </a:graphicData>
        </a:graphic>
      </p:graphicFrame>
      <p:sp>
        <p:nvSpPr>
          <p:cNvPr id="12" name="Rounded Rectangle 11"/>
          <p:cNvSpPr/>
          <p:nvPr/>
        </p:nvSpPr>
        <p:spPr>
          <a:xfrm>
            <a:off x="694944" y="2103120"/>
            <a:ext cx="3355848" cy="1325880"/>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194560"/>
            <a:ext cx="3108960" cy="640080"/>
          </a:xfrm>
          <a:prstGeom prst="rect">
            <a:avLst/>
          </a:prstGeom>
          <a:noFill/>
        </p:spPr>
        <p:txBody>
          <a:bodyPr wrap="square" lIns="25400" rIns="25400" tIns="12700" bIns="12700">
            <a:spAutoFit/>
          </a:bodyPr>
          <a:lstStyle/>
          <a:p>
            <a:pPr algn="ctr" rtl="0">
              <a:spcAft>
                <a:spcPts val="400"/>
              </a:spcAft>
            </a:pPr>
            <a:r>
              <a:rPr sz="4000" b="1" lang="en-US">
                <a:solidFill>
                  <a:srgbClr val="142633"/>
                </a:solidFill>
                <a:latin typeface="Arial"/>
                <a:cs typeface="Arial"/>
                <a:ea typeface="Arial"/>
              </a:rPr>
              <a:t>28</a:t>
            </a:r>
          </a:p>
        </p:txBody>
      </p:sp>
      <p:sp>
        <p:nvSpPr>
          <p:cNvPr id="14" name="TextBox 13"/>
          <p:cNvSpPr txBox="1"/>
          <p:nvPr/>
        </p:nvSpPr>
        <p:spPr>
          <a:xfrm>
            <a:off x="822960" y="2953512"/>
            <a:ext cx="3108960" cy="356616"/>
          </a:xfrm>
          <a:prstGeom prst="rect">
            <a:avLst/>
          </a:prstGeom>
          <a:noFill/>
        </p:spPr>
        <p:txBody>
          <a:bodyPr wrap="square" lIns="25400" rIns="25400" tIns="12700" bIns="12700">
            <a:spAutoFit/>
          </a:bodyPr>
          <a:lstStyle/>
          <a:p>
            <a:pPr algn="ctr" rtl="1">
              <a:spcAft>
                <a:spcPts val="400"/>
              </a:spcAft>
            </a:pPr>
            <a:r>
              <a:rPr sz="1700" b="0" lang="ar-DZ">
                <a:solidFill>
                  <a:srgbClr val="536975"/>
                </a:solidFill>
                <a:latin typeface="Arial"/>
                <a:cs typeface="Arial"/>
                <a:ea typeface="Arial"/>
              </a:rPr>
              <a:t>رجلًا في مجموعتي الدراسة</a:t>
            </a:r>
          </a:p>
        </p:txBody>
      </p:sp>
      <p:sp>
        <p:nvSpPr>
          <p:cNvPr id="15" name="Rounded Rectangle 14"/>
          <p:cNvSpPr/>
          <p:nvPr/>
        </p:nvSpPr>
        <p:spPr>
          <a:xfrm>
            <a:off x="694944" y="3703320"/>
            <a:ext cx="3355848" cy="1325880"/>
          </a:xfrm>
          <a:prstGeom prst="roundRect">
            <a:avLst>
              <a:gd name="adj" fmla="val 12000"/>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94759"/>
            <a:ext cx="3108960" cy="640080"/>
          </a:xfrm>
          <a:prstGeom prst="rect">
            <a:avLst/>
          </a:prstGeom>
          <a:noFill/>
        </p:spPr>
        <p:txBody>
          <a:bodyPr wrap="square" lIns="25400" rIns="25400" tIns="12700" bIns="12700">
            <a:spAutoFit/>
          </a:bodyPr>
          <a:lstStyle/>
          <a:p>
            <a:pPr algn="ctr" rtl="0">
              <a:spcAft>
                <a:spcPts val="400"/>
              </a:spcAft>
            </a:pPr>
            <a:r>
              <a:rPr sz="4000" b="1" lang="en-US">
                <a:solidFill>
                  <a:srgbClr val="142633"/>
                </a:solidFill>
                <a:latin typeface="Arial"/>
                <a:cs typeface="Arial"/>
                <a:ea typeface="Arial"/>
              </a:rPr>
              <a:t>8</a:t>
            </a:r>
          </a:p>
        </p:txBody>
      </p:sp>
      <p:sp>
        <p:nvSpPr>
          <p:cNvPr id="17" name="TextBox 16"/>
          <p:cNvSpPr txBox="1"/>
          <p:nvPr/>
        </p:nvSpPr>
        <p:spPr>
          <a:xfrm>
            <a:off x="822960" y="4553712"/>
            <a:ext cx="3108960" cy="356616"/>
          </a:xfrm>
          <a:prstGeom prst="rect">
            <a:avLst/>
          </a:prstGeom>
          <a:noFill/>
        </p:spPr>
        <p:txBody>
          <a:bodyPr wrap="square" lIns="25400" rIns="25400" tIns="12700" bIns="12700">
            <a:spAutoFit/>
          </a:bodyPr>
          <a:lstStyle/>
          <a:p>
            <a:pPr algn="ctr" rtl="1">
              <a:spcAft>
                <a:spcPts val="400"/>
              </a:spcAft>
            </a:pPr>
            <a:r>
              <a:rPr sz="1700" b="0" lang="ar-DZ">
                <a:solidFill>
                  <a:srgbClr val="536975"/>
                </a:solidFill>
                <a:latin typeface="Arial"/>
                <a:cs typeface="Arial"/>
                <a:ea typeface="Arial"/>
              </a:rPr>
              <a:t>أسابيع من التدخل</a:t>
            </a:r>
          </a:p>
        </p:txBody>
      </p:sp>
      <p:sp>
        <p:nvSpPr>
          <p:cNvPr id="18" name="Rounded Rectangle 17"/>
          <p:cNvSpPr/>
          <p:nvPr/>
        </p:nvSpPr>
        <p:spPr>
          <a:xfrm>
            <a:off x="640080" y="5449824"/>
            <a:ext cx="10881360" cy="420624"/>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509260"/>
            <a:ext cx="10515600" cy="310896"/>
          </a:xfrm>
          <a:prstGeom prst="rect">
            <a:avLst/>
          </a:prstGeom>
          <a:noFill/>
        </p:spPr>
        <p:txBody>
          <a:bodyPr wrap="square" lIns="25400" rIns="25400" tIns="12700" bIns="12700">
            <a:spAutoFit/>
          </a:bodyPr>
          <a:lstStyle/>
          <a:p>
            <a:pPr algn="r" rtl="1">
              <a:spcAft>
                <a:spcPts val="400"/>
              </a:spcAft>
            </a:pPr>
            <a:r>
              <a:rPr sz="1600" b="1" lang="ar-DZ">
                <a:solidFill>
                  <a:srgbClr val="F5F7F4"/>
                </a:solidFill>
                <a:latin typeface="Arial"/>
                <a:cs typeface="Arial"/>
                <a:ea typeface="Arial"/>
              </a:rPr>
              <a:t>عينة صغيرة من الرجال؛ النسب تحسّن اختبارات وليست زيادة كتلة عضلية.</a:t>
            </a:r>
          </a:p>
        </p:txBody>
      </p:sp>
      <p:sp>
        <p:nvSpPr>
          <p:cNvPr id="20" name="TextBox 19"/>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536975"/>
                </a:solidFill>
                <a:latin typeface="Arial"/>
                <a:cs typeface="Arial"/>
                <a:ea typeface="Arial"/>
              </a:rPr>
              <a:t>المصدر: Thomas وزملاؤه، Isokinetics and Exercise Science، 2017؛ 25: 215–222.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05 / السلامة والتعافي</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10 / 15</a:t>
            </a:r>
          </a:p>
        </p:txBody>
      </p:sp>
      <p:sp>
        <p:nvSpPr>
          <p:cNvPr id="8" name="Rectangle 7"/>
          <p:cNvSpPr/>
          <p:nvPr/>
        </p:nvSpPr>
        <p:spPr>
          <a:xfrm>
            <a:off x="548640" y="6803136"/>
            <a:ext cx="7376160"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تدرّب بذكاء: أمان وتعافٍ وتغذية</a:t>
            </a:r>
          </a:p>
        </p:txBody>
      </p:sp>
      <p:pic>
        <p:nvPicPr>
          <p:cNvPr id="10" name="Picture 9" descr="incline.jpg"/>
          <p:cNvPicPr>
            <a:picLocks noChangeAspect="1"/>
          </p:cNvPicPr>
          <p:nvPr/>
        </p:nvPicPr>
        <p:blipFill>
          <a:blip r:embed="rId2"/>
          <a:srcRect t="4474" b="4474"/>
          <a:stretch>
            <a:fillRect/>
          </a:stretch>
        </p:blipFill>
        <p:spPr>
          <a:xfrm>
            <a:off x="640080" y="1883664"/>
            <a:ext cx="2487168" cy="3392424"/>
          </a:xfrm>
          <a:prstGeom prst="rect">
            <a:avLst/>
          </a:prstGeom>
        </p:spPr>
      </p:pic>
      <p:sp>
        <p:nvSpPr>
          <p:cNvPr id="11" name="Rounded Rectangle 10"/>
          <p:cNvSpPr/>
          <p:nvPr/>
        </p:nvSpPr>
        <p:spPr>
          <a:xfrm>
            <a:off x="7498079" y="1883664"/>
            <a:ext cx="4005072" cy="160020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59" y="2057400"/>
            <a:ext cx="3621024" cy="393192"/>
          </a:xfrm>
          <a:prstGeom prst="rect">
            <a:avLst/>
          </a:prstGeom>
          <a:noFill/>
        </p:spPr>
        <p:txBody>
          <a:bodyPr wrap="square" lIns="25400" rIns="25400" tIns="12700" bIns="12700">
            <a:spAutoFit/>
          </a:bodyPr>
          <a:lstStyle/>
          <a:p>
            <a:pPr algn="r" rtl="1">
              <a:spcAft>
                <a:spcPts val="400"/>
              </a:spcAft>
            </a:pPr>
            <a:r>
              <a:rPr sz="2500" b="1" lang="ar-DZ">
                <a:solidFill>
                  <a:srgbClr val="49D3BC"/>
                </a:solidFill>
                <a:latin typeface="Arial"/>
                <a:cs typeface="Arial"/>
                <a:ea typeface="Arial"/>
              </a:rPr>
              <a:t>استعد</a:t>
            </a:r>
          </a:p>
        </p:txBody>
      </p:sp>
      <p:sp>
        <p:nvSpPr>
          <p:cNvPr id="13" name="TextBox 12"/>
          <p:cNvSpPr txBox="1"/>
          <p:nvPr/>
        </p:nvSpPr>
        <p:spPr>
          <a:xfrm>
            <a:off x="7680959" y="2670048"/>
            <a:ext cx="3621024" cy="640080"/>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إحماء خفيف ومجموعات تمهيدية</a:t>
            </a:r>
          </a:p>
        </p:txBody>
      </p:sp>
      <p:sp>
        <p:nvSpPr>
          <p:cNvPr id="14" name="Rounded Rectangle 13"/>
          <p:cNvSpPr/>
          <p:nvPr/>
        </p:nvSpPr>
        <p:spPr>
          <a:xfrm>
            <a:off x="3337560" y="1883664"/>
            <a:ext cx="4005072" cy="160020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057400"/>
            <a:ext cx="3621024" cy="393192"/>
          </a:xfrm>
          <a:prstGeom prst="rect">
            <a:avLst/>
          </a:prstGeom>
          <a:noFill/>
        </p:spPr>
        <p:txBody>
          <a:bodyPr wrap="square" lIns="25400" rIns="25400" tIns="12700" bIns="12700">
            <a:spAutoFit/>
          </a:bodyPr>
          <a:lstStyle/>
          <a:p>
            <a:pPr algn="r" rtl="1">
              <a:spcAft>
                <a:spcPts val="400"/>
              </a:spcAft>
            </a:pPr>
            <a:r>
              <a:rPr sz="2500" b="1" lang="ar-DZ">
                <a:solidFill>
                  <a:srgbClr val="49D3BC"/>
                </a:solidFill>
                <a:latin typeface="Arial"/>
                <a:cs typeface="Arial"/>
                <a:ea typeface="Arial"/>
              </a:rPr>
              <a:t>تحكّم</a:t>
            </a:r>
          </a:p>
        </p:txBody>
      </p:sp>
      <p:sp>
        <p:nvSpPr>
          <p:cNvPr id="16" name="TextBox 15"/>
          <p:cNvSpPr txBox="1"/>
          <p:nvPr/>
        </p:nvSpPr>
        <p:spPr>
          <a:xfrm>
            <a:off x="3520440" y="2670048"/>
            <a:ext cx="3621024" cy="640080"/>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معدات ثابتة وحمل تدريجي</a:t>
            </a:r>
          </a:p>
        </p:txBody>
      </p:sp>
      <p:sp>
        <p:nvSpPr>
          <p:cNvPr id="17" name="Rounded Rectangle 16"/>
          <p:cNvSpPr/>
          <p:nvPr/>
        </p:nvSpPr>
        <p:spPr>
          <a:xfrm>
            <a:off x="7498079" y="3666744"/>
            <a:ext cx="4005072" cy="160020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59" y="3840480"/>
            <a:ext cx="3621024" cy="393192"/>
          </a:xfrm>
          <a:prstGeom prst="rect">
            <a:avLst/>
          </a:prstGeom>
          <a:noFill/>
        </p:spPr>
        <p:txBody>
          <a:bodyPr wrap="square" lIns="25400" rIns="25400" tIns="12700" bIns="12700">
            <a:spAutoFit/>
          </a:bodyPr>
          <a:lstStyle/>
          <a:p>
            <a:pPr algn="r" rtl="1">
              <a:spcAft>
                <a:spcPts val="400"/>
              </a:spcAft>
            </a:pPr>
            <a:r>
              <a:rPr sz="2500" b="1" lang="ar-DZ">
                <a:solidFill>
                  <a:srgbClr val="49D3BC"/>
                </a:solidFill>
                <a:latin typeface="Arial"/>
                <a:cs typeface="Arial"/>
                <a:ea typeface="Arial"/>
              </a:rPr>
              <a:t>تعافَ</a:t>
            </a:r>
          </a:p>
        </p:txBody>
      </p:sp>
      <p:sp>
        <p:nvSpPr>
          <p:cNvPr id="19" name="TextBox 18"/>
          <p:cNvSpPr txBox="1"/>
          <p:nvPr/>
        </p:nvSpPr>
        <p:spPr>
          <a:xfrm>
            <a:off x="7680959" y="4453128"/>
            <a:ext cx="3621024" cy="640080"/>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نوم كافٍ وراحة بين الحصص</a:t>
            </a:r>
          </a:p>
        </p:txBody>
      </p:sp>
      <p:sp>
        <p:nvSpPr>
          <p:cNvPr id="20" name="Rounded Rectangle 19"/>
          <p:cNvSpPr/>
          <p:nvPr/>
        </p:nvSpPr>
        <p:spPr>
          <a:xfrm>
            <a:off x="3337560" y="3666744"/>
            <a:ext cx="4005072" cy="1600200"/>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3840480"/>
            <a:ext cx="3621024" cy="393192"/>
          </a:xfrm>
          <a:prstGeom prst="rect">
            <a:avLst/>
          </a:prstGeom>
          <a:noFill/>
        </p:spPr>
        <p:txBody>
          <a:bodyPr wrap="square" lIns="25400" rIns="25400" tIns="12700" bIns="12700">
            <a:spAutoFit/>
          </a:bodyPr>
          <a:lstStyle/>
          <a:p>
            <a:pPr algn="r" rtl="1">
              <a:spcAft>
                <a:spcPts val="400"/>
              </a:spcAft>
            </a:pPr>
            <a:r>
              <a:rPr sz="2500" b="1" lang="ar-DZ">
                <a:solidFill>
                  <a:srgbClr val="49D3BC"/>
                </a:solidFill>
                <a:latin typeface="Arial"/>
                <a:cs typeface="Arial"/>
                <a:ea typeface="Arial"/>
              </a:rPr>
              <a:t>تغذَّ</a:t>
            </a:r>
          </a:p>
        </p:txBody>
      </p:sp>
      <p:sp>
        <p:nvSpPr>
          <p:cNvPr id="22" name="TextBox 21"/>
          <p:cNvSpPr txBox="1"/>
          <p:nvPr/>
        </p:nvSpPr>
        <p:spPr>
          <a:xfrm>
            <a:off x="3520440" y="4453128"/>
            <a:ext cx="3621024" cy="640080"/>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ماء وطعام متوازن ومصادر بروتين</a:t>
            </a:r>
          </a:p>
        </p:txBody>
      </p:sp>
      <p:sp>
        <p:nvSpPr>
          <p:cNvPr id="23" name="Rounded Rectangle 22"/>
          <p:cNvSpPr/>
          <p:nvPr/>
        </p:nvSpPr>
        <p:spPr>
          <a:xfrm>
            <a:off x="640080" y="5559552"/>
            <a:ext cx="10881360" cy="438912"/>
          </a:xfrm>
          <a:prstGeom prst="roundRect">
            <a:avLst>
              <a:gd name="adj" fmla="val 12000"/>
            </a:avLst>
          </a:prstGeom>
          <a:solidFill>
            <a:srgbClr val="EDAD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632704"/>
            <a:ext cx="10515600" cy="301752"/>
          </a:xfrm>
          <a:prstGeom prst="rect">
            <a:avLst/>
          </a:prstGeom>
          <a:noFill/>
        </p:spPr>
        <p:txBody>
          <a:bodyPr wrap="square" lIns="25400" rIns="25400" tIns="12700" bIns="12700">
            <a:spAutoFit/>
          </a:bodyPr>
          <a:lstStyle/>
          <a:p>
            <a:pPr algn="r" rtl="1">
              <a:spcAft>
                <a:spcPts val="400"/>
              </a:spcAft>
            </a:pPr>
            <a:r>
              <a:rPr sz="1700" b="1" lang="ar-DZ">
                <a:solidFill>
                  <a:srgbClr val="142633"/>
                </a:solidFill>
                <a:latin typeface="Arial"/>
                <a:cs typeface="Arial"/>
                <a:ea typeface="Arial"/>
              </a:rPr>
              <a:t>ألم حاد، دوار أو ألم صدري؟ أوقف التمرين واطلب التقييم المناسب.</a:t>
            </a:r>
          </a:p>
        </p:txBody>
      </p:sp>
      <p:sp>
        <p:nvSpPr>
          <p:cNvPr id="25" name="TextBox 24"/>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AFC0C7"/>
                </a:solidFill>
                <a:latin typeface="Arial"/>
                <a:cs typeface="Arial"/>
                <a:ea typeface="Arial"/>
              </a:rPr>
              <a:t>إرشاد عام للبالغين الأصحاء؛ الإصابات والأمراض المزمنة تتطلب تكييفًا فرديًا.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4"/>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536975"/>
                </a:solidFill>
                <a:latin typeface="Arial"/>
                <a:cs typeface="Arial"/>
                <a:ea typeface="Arial"/>
              </a:rPr>
              <a:t>05 / خطة التطبيق</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536975"/>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11 / 15</a:t>
            </a:r>
          </a:p>
        </p:txBody>
      </p:sp>
      <p:sp>
        <p:nvSpPr>
          <p:cNvPr id="8" name="Rectangle 7"/>
          <p:cNvSpPr/>
          <p:nvPr/>
        </p:nvSpPr>
        <p:spPr>
          <a:xfrm>
            <a:off x="548640" y="6803136"/>
            <a:ext cx="8113776"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142633"/>
                </a:solidFill>
                <a:latin typeface="Arial"/>
                <a:cs typeface="Arial"/>
                <a:ea typeface="Arial"/>
              </a:rPr>
              <a:t>خطة انطلاق عملية: 8 أسابيع</a:t>
            </a:r>
          </a:p>
        </p:txBody>
      </p:sp>
      <p:sp>
        <p:nvSpPr>
          <p:cNvPr id="10" name="TextBox 9"/>
          <p:cNvSpPr txBox="1"/>
          <p:nvPr/>
        </p:nvSpPr>
        <p:spPr>
          <a:xfrm>
            <a:off x="731520" y="1801368"/>
            <a:ext cx="10698480" cy="411480"/>
          </a:xfrm>
          <a:prstGeom prst="rect">
            <a:avLst/>
          </a:prstGeom>
          <a:noFill/>
        </p:spPr>
        <p:txBody>
          <a:bodyPr wrap="square" lIns="25400" rIns="25400" tIns="12700" bIns="12700">
            <a:spAutoFit/>
          </a:bodyPr>
          <a:lstStyle/>
          <a:p>
            <a:pPr algn="r" rtl="1">
              <a:spcAft>
                <a:spcPts val="400"/>
              </a:spcAft>
            </a:pPr>
            <a:r>
              <a:rPr sz="1900" b="0" lang="ar-DZ">
                <a:solidFill>
                  <a:srgbClr val="142633"/>
                </a:solidFill>
                <a:latin typeface="Arial"/>
                <a:cs typeface="Arial"/>
                <a:ea typeface="Arial"/>
              </a:rPr>
              <a:t>حصتان لكامل الجسم أسبوعيًا • يوم راحة على الأقل بينهما • 2–3 تكرارات احتياطية</a:t>
            </a:r>
          </a:p>
        </p:txBody>
      </p:sp>
      <p:graphicFrame>
        <p:nvGraphicFramePr>
          <p:cNvPr id="11" name="Table 10"/>
          <p:cNvGraphicFramePr>
            <a:graphicFrameLocks noGrp="1"/>
          </p:cNvGraphicFramePr>
          <p:nvPr/>
        </p:nvGraphicFramePr>
        <p:xfrm>
          <a:off x="658368" y="2404872"/>
          <a:ext cx="10835640" cy="2240280"/>
        </p:xfrm>
        <a:graphic>
          <a:graphicData uri="http://schemas.openxmlformats.org/drawingml/2006/table">
            <a:tbl>
              <a:tblPr firstRow="1" bandRow="1">
                <a:tableStyleId>{5C22544A-7EE6-4342-B048-85BDC9FD1C3A}</a:tableStyleId>
              </a:tblPr>
              <a:tblGrid>
                <a:gridCol w="4389120"/>
                <a:gridCol w="6446520"/>
              </a:tblGrid>
              <a:tr h="448056">
                <a:tc>
                  <a:txBody>
                    <a:bodyPr/>
                    <a:lstStyle/>
                    <a:p>
                      <a:pPr algn="r" rtl="1"/>
                      <a:r>
                        <a:rPr sz="1800" b="1">
                          <a:solidFill>
                            <a:srgbClr val="F5F7F4"/>
                          </a:solidFill>
                          <a:latin typeface="Arial"/>
                          <a:cs typeface="Arial"/>
                        </a:rPr>
                        <a:t>الجرعة المبدئية</a:t>
                      </a:r>
                    </a:p>
                  </a:txBody>
                  <a:tcPr marL="118872" marR="118872" marT="54864" marB="36576" anchor="ctr">
                    <a:solidFill>
                      <a:srgbClr val="142633"/>
                    </a:solidFill>
                  </a:tcPr>
                </a:tc>
                <a:tc>
                  <a:txBody>
                    <a:bodyPr/>
                    <a:lstStyle/>
                    <a:p>
                      <a:pPr algn="r" rtl="1"/>
                      <a:r>
                        <a:rPr sz="1800" b="1">
                          <a:solidFill>
                            <a:srgbClr val="F5F7F4"/>
                          </a:solidFill>
                          <a:latin typeface="Arial"/>
                          <a:cs typeface="Arial"/>
                        </a:rPr>
                        <a:t>التمرين</a:t>
                      </a:r>
                    </a:p>
                  </a:txBody>
                  <a:tcPr marL="118872" marR="118872" marT="54864" marB="36576" anchor="ctr">
                    <a:solidFill>
                      <a:srgbClr val="142633"/>
                    </a:solidFill>
                  </a:tcPr>
                </a:tc>
              </a:tr>
              <a:tr h="448056">
                <a:tc>
                  <a:txBody>
                    <a:bodyPr/>
                    <a:lstStyle/>
                    <a:p>
                      <a:pPr algn="r" rtl="1"/>
                      <a:r>
                        <a:rPr sz="1800" b="0">
                          <a:solidFill>
                            <a:srgbClr val="142633"/>
                          </a:solidFill>
                          <a:latin typeface="Arial"/>
                          <a:cs typeface="Arial"/>
                        </a:rPr>
                        <a:t>مجموعتان × 6–10</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ضغط مائل</a:t>
                      </a:r>
                    </a:p>
                  </a:txBody>
                  <a:tcPr marL="118872" marR="118872" marT="54864" marB="36576" anchor="ctr">
                    <a:solidFill>
                      <a:srgbClr val="E5EDEA"/>
                    </a:solidFill>
                  </a:tcPr>
                </a:tc>
              </a:tr>
              <a:tr h="448056">
                <a:tc>
                  <a:txBody>
                    <a:bodyPr/>
                    <a:lstStyle/>
                    <a:p>
                      <a:pPr algn="r" rtl="1"/>
                      <a:r>
                        <a:rPr sz="1800" b="0">
                          <a:solidFill>
                            <a:srgbClr val="142633"/>
                          </a:solidFill>
                          <a:latin typeface="Arial"/>
                          <a:cs typeface="Arial"/>
                        </a:rPr>
                        <a:t>مجموعتان × 6–10</a:t>
                      </a:r>
                    </a:p>
                  </a:txBody>
                  <a:tcPr marL="118872" marR="118872" marT="54864" marB="36576" anchor="ctr">
                    <a:solidFill>
                      <a:srgbClr val="EDF2EF"/>
                    </a:solidFill>
                  </a:tcPr>
                </a:tc>
                <a:tc>
                  <a:txBody>
                    <a:bodyPr/>
                    <a:lstStyle/>
                    <a:p>
                      <a:pPr algn="r" rtl="1"/>
                      <a:r>
                        <a:rPr sz="1800" b="0">
                          <a:solidFill>
                            <a:srgbClr val="142633"/>
                          </a:solidFill>
                          <a:latin typeface="Arial"/>
                          <a:cs typeface="Arial"/>
                        </a:rPr>
                        <a:t>سحب بوزن الجسم من جهاز ثابت</a:t>
                      </a:r>
                    </a:p>
                  </a:txBody>
                  <a:tcPr marL="118872" marR="118872" marT="54864" marB="36576" anchor="ctr">
                    <a:solidFill>
                      <a:srgbClr val="EDF2EF"/>
                    </a:solidFill>
                  </a:tcPr>
                </a:tc>
              </a:tr>
              <a:tr h="448056">
                <a:tc>
                  <a:txBody>
                    <a:bodyPr/>
                    <a:lstStyle/>
                    <a:p>
                      <a:pPr algn="r" rtl="1"/>
                      <a:r>
                        <a:rPr sz="1800" b="0">
                          <a:solidFill>
                            <a:srgbClr val="142633"/>
                          </a:solidFill>
                          <a:latin typeface="Arial"/>
                          <a:cs typeface="Arial"/>
                        </a:rPr>
                        <a:t>مجموعتان × 8–12 لكل تمرين</a:t>
                      </a:r>
                    </a:p>
                  </a:txBody>
                  <a:tcPr marL="118872" marR="118872" marT="54864" marB="36576" anchor="ctr">
                    <a:solidFill>
                      <a:srgbClr val="E5EDEA"/>
                    </a:solidFill>
                  </a:tcPr>
                </a:tc>
                <a:tc>
                  <a:txBody>
                    <a:bodyPr/>
                    <a:lstStyle/>
                    <a:p>
                      <a:pPr algn="r" rtl="1"/>
                      <a:r>
                        <a:rPr sz="1800" b="0">
                          <a:solidFill>
                            <a:srgbClr val="142633"/>
                          </a:solidFill>
                          <a:latin typeface="Arial"/>
                          <a:cs typeface="Arial"/>
                        </a:rPr>
                        <a:t>قرفصاء + جسر الأرداف</a:t>
                      </a:r>
                    </a:p>
                  </a:txBody>
                  <a:tcPr marL="118872" marR="118872" marT="54864" marB="36576" anchor="ctr">
                    <a:solidFill>
                      <a:srgbClr val="E5EDEA"/>
                    </a:solidFill>
                  </a:tcPr>
                </a:tc>
              </a:tr>
              <a:tr h="448056">
                <a:tc>
                  <a:txBody>
                    <a:bodyPr/>
                    <a:lstStyle/>
                    <a:p>
                      <a:pPr algn="r" rtl="1"/>
                      <a:r>
                        <a:rPr sz="1800" b="0">
                          <a:solidFill>
                            <a:srgbClr val="142633"/>
                          </a:solidFill>
                          <a:latin typeface="Arial"/>
                          <a:cs typeface="Arial"/>
                        </a:rPr>
                        <a:t>مجموعتان × 15–25 ثانية</a:t>
                      </a:r>
                    </a:p>
                  </a:txBody>
                  <a:tcPr marL="118872" marR="118872" marT="54864" marB="36576" anchor="ctr">
                    <a:solidFill>
                      <a:srgbClr val="EDF2EF"/>
                    </a:solidFill>
                  </a:tcPr>
                </a:tc>
                <a:tc>
                  <a:txBody>
                    <a:bodyPr/>
                    <a:lstStyle/>
                    <a:p>
                      <a:pPr algn="r" rtl="1"/>
                      <a:r>
                        <a:rPr sz="1800" b="0">
                          <a:solidFill>
                            <a:srgbClr val="142633"/>
                          </a:solidFill>
                          <a:latin typeface="Arial"/>
                          <a:cs typeface="Arial"/>
                        </a:rPr>
                        <a:t>بلانك مع تنفّس طبيعي</a:t>
                      </a:r>
                    </a:p>
                  </a:txBody>
                  <a:tcPr marL="118872" marR="118872" marT="54864" marB="36576" anchor="ctr">
                    <a:solidFill>
                      <a:srgbClr val="EDF2EF"/>
                    </a:solidFill>
                  </a:tcPr>
                </a:tc>
              </a:tr>
            </a:tbl>
          </a:graphicData>
        </a:graphic>
      </p:graphicFrame>
      <p:sp>
        <p:nvSpPr>
          <p:cNvPr id="12" name="Rounded Rectangle 11"/>
          <p:cNvSpPr/>
          <p:nvPr/>
        </p:nvSpPr>
        <p:spPr>
          <a:xfrm>
            <a:off x="8869680" y="4937760"/>
            <a:ext cx="2633472" cy="850392"/>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19" y="5010912"/>
            <a:ext cx="2450592" cy="320040"/>
          </a:xfrm>
          <a:prstGeom prst="rect">
            <a:avLst/>
          </a:prstGeom>
          <a:noFill/>
        </p:spPr>
        <p:txBody>
          <a:bodyPr wrap="square" lIns="25400" rIns="25400" tIns="12700" bIns="12700">
            <a:spAutoFit/>
          </a:bodyPr>
          <a:lstStyle/>
          <a:p>
            <a:pPr algn="ctr" rtl="0">
              <a:spcAft>
                <a:spcPts val="400"/>
              </a:spcAft>
            </a:pPr>
            <a:r>
              <a:rPr sz="1900" b="1" lang="en-US">
                <a:solidFill>
                  <a:srgbClr val="49D3BC"/>
                </a:solidFill>
                <a:latin typeface="Arial"/>
                <a:cs typeface="Arial"/>
                <a:ea typeface="Arial"/>
              </a:rPr>
              <a:t>1–2</a:t>
            </a:r>
          </a:p>
        </p:txBody>
      </p:sp>
      <p:sp>
        <p:nvSpPr>
          <p:cNvPr id="14" name="TextBox 13"/>
          <p:cNvSpPr txBox="1"/>
          <p:nvPr/>
        </p:nvSpPr>
        <p:spPr>
          <a:xfrm>
            <a:off x="8961119" y="5385816"/>
            <a:ext cx="2450592" cy="274320"/>
          </a:xfrm>
          <a:prstGeom prst="rect">
            <a:avLst/>
          </a:prstGeom>
          <a:noFill/>
        </p:spPr>
        <p:txBody>
          <a:bodyPr wrap="square" lIns="25400" rIns="25400" tIns="12700" bIns="12700">
            <a:spAutoFit/>
          </a:bodyPr>
          <a:lstStyle/>
          <a:p>
            <a:pPr algn="ctr" rtl="1">
              <a:spcAft>
                <a:spcPts val="400"/>
              </a:spcAft>
            </a:pPr>
            <a:r>
              <a:rPr sz="1600" b="0" lang="ar-DZ">
                <a:solidFill>
                  <a:srgbClr val="F5F7F4"/>
                </a:solidFill>
                <a:latin typeface="Arial"/>
                <a:cs typeface="Arial"/>
                <a:ea typeface="Arial"/>
              </a:rPr>
              <a:t>تعلّم التقنية</a:t>
            </a:r>
          </a:p>
        </p:txBody>
      </p:sp>
      <p:sp>
        <p:nvSpPr>
          <p:cNvPr id="15" name="Rounded Rectangle 14"/>
          <p:cNvSpPr/>
          <p:nvPr/>
        </p:nvSpPr>
        <p:spPr>
          <a:xfrm>
            <a:off x="6126479" y="4937760"/>
            <a:ext cx="2633472" cy="850392"/>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19" y="5010912"/>
            <a:ext cx="2450592" cy="320040"/>
          </a:xfrm>
          <a:prstGeom prst="rect">
            <a:avLst/>
          </a:prstGeom>
          <a:noFill/>
        </p:spPr>
        <p:txBody>
          <a:bodyPr wrap="square" lIns="25400" rIns="25400" tIns="12700" bIns="12700">
            <a:spAutoFit/>
          </a:bodyPr>
          <a:lstStyle/>
          <a:p>
            <a:pPr algn="ctr" rtl="0">
              <a:spcAft>
                <a:spcPts val="400"/>
              </a:spcAft>
            </a:pPr>
            <a:r>
              <a:rPr sz="1900" b="1" lang="en-US">
                <a:solidFill>
                  <a:srgbClr val="49D3BC"/>
                </a:solidFill>
                <a:latin typeface="Arial"/>
                <a:cs typeface="Arial"/>
                <a:ea typeface="Arial"/>
              </a:rPr>
              <a:t>3–4</a:t>
            </a:r>
          </a:p>
        </p:txBody>
      </p:sp>
      <p:sp>
        <p:nvSpPr>
          <p:cNvPr id="17" name="TextBox 16"/>
          <p:cNvSpPr txBox="1"/>
          <p:nvPr/>
        </p:nvSpPr>
        <p:spPr>
          <a:xfrm>
            <a:off x="6217919" y="5385816"/>
            <a:ext cx="2450592" cy="274320"/>
          </a:xfrm>
          <a:prstGeom prst="rect">
            <a:avLst/>
          </a:prstGeom>
          <a:noFill/>
        </p:spPr>
        <p:txBody>
          <a:bodyPr wrap="square" lIns="25400" rIns="25400" tIns="12700" bIns="12700">
            <a:spAutoFit/>
          </a:bodyPr>
          <a:lstStyle/>
          <a:p>
            <a:pPr algn="ctr" rtl="1">
              <a:spcAft>
                <a:spcPts val="400"/>
              </a:spcAft>
            </a:pPr>
            <a:r>
              <a:rPr sz="1600" b="0" lang="ar-DZ">
                <a:solidFill>
                  <a:srgbClr val="F5F7F4"/>
                </a:solidFill>
                <a:latin typeface="Arial"/>
                <a:cs typeface="Arial"/>
                <a:ea typeface="Arial"/>
              </a:rPr>
              <a:t>ثبّت الأداء</a:t>
            </a:r>
          </a:p>
        </p:txBody>
      </p:sp>
      <p:sp>
        <p:nvSpPr>
          <p:cNvPr id="18" name="Rounded Rectangle 17"/>
          <p:cNvSpPr/>
          <p:nvPr/>
        </p:nvSpPr>
        <p:spPr>
          <a:xfrm>
            <a:off x="3383279" y="4937760"/>
            <a:ext cx="2633472" cy="850392"/>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19" y="5010912"/>
            <a:ext cx="2450592" cy="320040"/>
          </a:xfrm>
          <a:prstGeom prst="rect">
            <a:avLst/>
          </a:prstGeom>
          <a:noFill/>
        </p:spPr>
        <p:txBody>
          <a:bodyPr wrap="square" lIns="25400" rIns="25400" tIns="12700" bIns="12700">
            <a:spAutoFit/>
          </a:bodyPr>
          <a:lstStyle/>
          <a:p>
            <a:pPr algn="ctr" rtl="0">
              <a:spcAft>
                <a:spcPts val="400"/>
              </a:spcAft>
            </a:pPr>
            <a:r>
              <a:rPr sz="1900" b="1" lang="en-US">
                <a:solidFill>
                  <a:srgbClr val="49D3BC"/>
                </a:solidFill>
                <a:latin typeface="Arial"/>
                <a:cs typeface="Arial"/>
                <a:ea typeface="Arial"/>
              </a:rPr>
              <a:t>5–6</a:t>
            </a:r>
          </a:p>
        </p:txBody>
      </p:sp>
      <p:sp>
        <p:nvSpPr>
          <p:cNvPr id="20" name="TextBox 19"/>
          <p:cNvSpPr txBox="1"/>
          <p:nvPr/>
        </p:nvSpPr>
        <p:spPr>
          <a:xfrm>
            <a:off x="3474719" y="5385816"/>
            <a:ext cx="2450592" cy="274320"/>
          </a:xfrm>
          <a:prstGeom prst="rect">
            <a:avLst/>
          </a:prstGeom>
          <a:noFill/>
        </p:spPr>
        <p:txBody>
          <a:bodyPr wrap="square" lIns="25400" rIns="25400" tIns="12700" bIns="12700">
            <a:spAutoFit/>
          </a:bodyPr>
          <a:lstStyle/>
          <a:p>
            <a:pPr algn="ctr" rtl="1">
              <a:spcAft>
                <a:spcPts val="400"/>
              </a:spcAft>
            </a:pPr>
            <a:r>
              <a:rPr sz="1600" b="0" lang="ar-DZ">
                <a:solidFill>
                  <a:srgbClr val="F5F7F4"/>
                </a:solidFill>
                <a:latin typeface="Arial"/>
                <a:cs typeface="Arial"/>
                <a:ea typeface="Arial"/>
              </a:rPr>
              <a:t>زد مطلبًا واحدًا</a:t>
            </a:r>
          </a:p>
        </p:txBody>
      </p:sp>
      <p:sp>
        <p:nvSpPr>
          <p:cNvPr id="21" name="Rounded Rectangle 20"/>
          <p:cNvSpPr/>
          <p:nvPr/>
        </p:nvSpPr>
        <p:spPr>
          <a:xfrm>
            <a:off x="640079" y="4937760"/>
            <a:ext cx="2633472" cy="850392"/>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 y="5010912"/>
            <a:ext cx="2450592" cy="320040"/>
          </a:xfrm>
          <a:prstGeom prst="rect">
            <a:avLst/>
          </a:prstGeom>
          <a:noFill/>
        </p:spPr>
        <p:txBody>
          <a:bodyPr wrap="square" lIns="25400" rIns="25400" tIns="12700" bIns="12700">
            <a:spAutoFit/>
          </a:bodyPr>
          <a:lstStyle/>
          <a:p>
            <a:pPr algn="ctr" rtl="0">
              <a:spcAft>
                <a:spcPts val="400"/>
              </a:spcAft>
            </a:pPr>
            <a:r>
              <a:rPr sz="1900" b="1" lang="en-US">
                <a:solidFill>
                  <a:srgbClr val="49D3BC"/>
                </a:solidFill>
                <a:latin typeface="Arial"/>
                <a:cs typeface="Arial"/>
                <a:ea typeface="Arial"/>
              </a:rPr>
              <a:t>7–8</a:t>
            </a:r>
          </a:p>
        </p:txBody>
      </p:sp>
      <p:sp>
        <p:nvSpPr>
          <p:cNvPr id="23" name="TextBox 22"/>
          <p:cNvSpPr txBox="1"/>
          <p:nvPr/>
        </p:nvSpPr>
        <p:spPr>
          <a:xfrm>
            <a:off x="731519" y="5385816"/>
            <a:ext cx="2450592" cy="274320"/>
          </a:xfrm>
          <a:prstGeom prst="rect">
            <a:avLst/>
          </a:prstGeom>
          <a:noFill/>
        </p:spPr>
        <p:txBody>
          <a:bodyPr wrap="square" lIns="25400" rIns="25400" tIns="12700" bIns="12700">
            <a:spAutoFit/>
          </a:bodyPr>
          <a:lstStyle/>
          <a:p>
            <a:pPr algn="ctr" rtl="1">
              <a:spcAft>
                <a:spcPts val="400"/>
              </a:spcAft>
            </a:pPr>
            <a:r>
              <a:rPr sz="1600" b="0" lang="ar-DZ">
                <a:solidFill>
                  <a:srgbClr val="F5F7F4"/>
                </a:solidFill>
                <a:latin typeface="Arial"/>
                <a:cs typeface="Arial"/>
                <a:ea typeface="Arial"/>
              </a:rPr>
              <a:t>قيّم وعدّل</a:t>
            </a:r>
          </a:p>
        </p:txBody>
      </p:sp>
      <p:sp>
        <p:nvSpPr>
          <p:cNvPr id="24" name="TextBox 23"/>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536975"/>
                </a:solidFill>
                <a:latin typeface="Arial"/>
                <a:cs typeface="Arial"/>
                <a:ea typeface="Arial"/>
              </a:rPr>
              <a:t>مثال تعليمي قابل للتعديل • راحة 60–120 ثانية أو أكثر عند الحاجة • تفاصيل التدرّج في ملاحظات المتحدث.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4"/>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536975"/>
                </a:solidFill>
                <a:latin typeface="Arial"/>
                <a:cs typeface="Arial"/>
                <a:ea typeface="Arial"/>
              </a:rPr>
              <a:t>06 / القياس والنتائج</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E5E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536975"/>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536975"/>
                </a:solidFill>
                <a:latin typeface="Arial"/>
                <a:cs typeface="Arial"/>
                <a:ea typeface="Arial"/>
              </a:rPr>
              <a:t>12 / 15</a:t>
            </a:r>
          </a:p>
        </p:txBody>
      </p:sp>
      <p:sp>
        <p:nvSpPr>
          <p:cNvPr id="8" name="Rectangle 7"/>
          <p:cNvSpPr/>
          <p:nvPr/>
        </p:nvSpPr>
        <p:spPr>
          <a:xfrm>
            <a:off x="548640" y="6803136"/>
            <a:ext cx="8851392"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142633"/>
                </a:solidFill>
                <a:latin typeface="Arial"/>
                <a:cs typeface="Arial"/>
                <a:ea typeface="Arial"/>
              </a:rPr>
              <a:t>النتائج المتوقعة: قِس الجودة أولًا</a:t>
            </a:r>
          </a:p>
        </p:txBody>
      </p:sp>
      <p:sp>
        <p:nvSpPr>
          <p:cNvPr id="10" name="TextBox 9"/>
          <p:cNvSpPr txBox="1"/>
          <p:nvPr/>
        </p:nvSpPr>
        <p:spPr>
          <a:xfrm>
            <a:off x="731520" y="1856231"/>
            <a:ext cx="10698480" cy="640080"/>
          </a:xfrm>
          <a:prstGeom prst="rect">
            <a:avLst/>
          </a:prstGeom>
          <a:noFill/>
        </p:spPr>
        <p:txBody>
          <a:bodyPr wrap="square" lIns="25400" rIns="25400" tIns="12700" bIns="12700">
            <a:spAutoFit/>
          </a:bodyPr>
          <a:lstStyle/>
          <a:p>
            <a:pPr algn="r" rtl="1">
              <a:spcAft>
                <a:spcPts val="400"/>
              </a:spcAft>
            </a:pPr>
            <a:r>
              <a:rPr sz="2000" b="0" lang="ar-DZ">
                <a:solidFill>
                  <a:srgbClr val="142633"/>
                </a:solidFill>
                <a:latin typeface="Arial"/>
                <a:cs typeface="Arial"/>
                <a:ea typeface="Arial"/>
              </a:rPr>
              <a:t>تحكّم أفضل وقوة أعلى محتملان؛ لا موعد مضمون لتغيّر الشكل أو إتقان مهارة.</a:t>
            </a:r>
          </a:p>
        </p:txBody>
      </p:sp>
      <p:graphicFrame>
        <p:nvGraphicFramePr>
          <p:cNvPr id="11" name="Table 10"/>
          <p:cNvGraphicFramePr>
            <a:graphicFrameLocks noGrp="1"/>
          </p:cNvGraphicFramePr>
          <p:nvPr/>
        </p:nvGraphicFramePr>
        <p:xfrm>
          <a:off x="658368" y="2688336"/>
          <a:ext cx="10835640" cy="2340864"/>
        </p:xfrm>
        <a:graphic>
          <a:graphicData uri="http://schemas.openxmlformats.org/drawingml/2006/table">
            <a:tbl>
              <a:tblPr firstRow="1" bandRow="1">
                <a:tableStyleId>{5C22544A-7EE6-4342-B048-85BDC9FD1C3A}</a:tableStyleId>
              </a:tblPr>
              <a:tblGrid>
                <a:gridCol w="2011680"/>
                <a:gridCol w="2011680"/>
                <a:gridCol w="2011680"/>
                <a:gridCol w="4800600"/>
              </a:tblGrid>
              <a:tr h="585216">
                <a:tc>
                  <a:txBody>
                    <a:bodyPr/>
                    <a:lstStyle/>
                    <a:p>
                      <a:pPr algn="r" rtl="1"/>
                      <a:r>
                        <a:rPr sz="1900" b="1">
                          <a:solidFill>
                            <a:srgbClr val="F5F7F4"/>
                          </a:solidFill>
                          <a:latin typeface="Arial"/>
                          <a:cs typeface="Arial"/>
                        </a:rPr>
                        <a:t>الأسبوع 8</a:t>
                      </a:r>
                    </a:p>
                  </a:txBody>
                  <a:tcPr marL="118872" marR="118872" marT="54864" marB="36576" anchor="ctr">
                    <a:solidFill>
                      <a:srgbClr val="142633"/>
                    </a:solidFill>
                  </a:tcPr>
                </a:tc>
                <a:tc>
                  <a:txBody>
                    <a:bodyPr/>
                    <a:lstStyle/>
                    <a:p>
                      <a:pPr algn="r" rtl="1"/>
                      <a:r>
                        <a:rPr sz="1900" b="1">
                          <a:solidFill>
                            <a:srgbClr val="F5F7F4"/>
                          </a:solidFill>
                          <a:latin typeface="Arial"/>
                          <a:cs typeface="Arial"/>
                        </a:rPr>
                        <a:t>الأسبوع 4</a:t>
                      </a:r>
                    </a:p>
                  </a:txBody>
                  <a:tcPr marL="118872" marR="118872" marT="54864" marB="36576" anchor="ctr">
                    <a:solidFill>
                      <a:srgbClr val="142633"/>
                    </a:solidFill>
                  </a:tcPr>
                </a:tc>
                <a:tc>
                  <a:txBody>
                    <a:bodyPr/>
                    <a:lstStyle/>
                    <a:p>
                      <a:pPr algn="r" rtl="1"/>
                      <a:r>
                        <a:rPr sz="1900" b="1">
                          <a:solidFill>
                            <a:srgbClr val="F5F7F4"/>
                          </a:solidFill>
                          <a:latin typeface="Arial"/>
                          <a:cs typeface="Arial"/>
                        </a:rPr>
                        <a:t>خط الأساس</a:t>
                      </a:r>
                    </a:p>
                  </a:txBody>
                  <a:tcPr marL="118872" marR="118872" marT="54864" marB="36576" anchor="ctr">
                    <a:solidFill>
                      <a:srgbClr val="142633"/>
                    </a:solidFill>
                  </a:tcPr>
                </a:tc>
                <a:tc>
                  <a:txBody>
                    <a:bodyPr/>
                    <a:lstStyle/>
                    <a:p>
                      <a:pPr algn="r" rtl="1"/>
                      <a:r>
                        <a:rPr sz="1900" b="1">
                          <a:solidFill>
                            <a:srgbClr val="F5F7F4"/>
                          </a:solidFill>
                          <a:latin typeface="Arial"/>
                          <a:cs typeface="Arial"/>
                        </a:rPr>
                        <a:t>مؤشر المتابعة</a:t>
                      </a:r>
                    </a:p>
                  </a:txBody>
                  <a:tcPr marL="118872" marR="118872" marT="54864" marB="36576" anchor="ctr">
                    <a:solidFill>
                      <a:srgbClr val="142633"/>
                    </a:solidFill>
                  </a:tcPr>
                </a:tc>
              </a:tr>
              <a:tr h="585216">
                <a:tc>
                  <a:txBody>
                    <a:bodyPr/>
                    <a:lstStyle/>
                    <a:p>
                      <a:pPr algn="r" rtl="1"/>
                      <a:r>
                        <a:rPr sz="1900" b="0">
                          <a:solidFill>
                            <a:srgbClr val="142633"/>
                          </a:solidFill>
                          <a:latin typeface="Arial"/>
                          <a:cs typeface="Arial"/>
                        </a:rPr>
                        <a:t>—</a:t>
                      </a:r>
                    </a:p>
                  </a:txBody>
                  <a:tcPr marL="118872" marR="118872" marT="54864" marB="36576" anchor="ctr">
                    <a:solidFill>
                      <a:srgbClr val="E5EDEA"/>
                    </a:solidFill>
                  </a:tcPr>
                </a:tc>
                <a:tc>
                  <a:txBody>
                    <a:bodyPr/>
                    <a:lstStyle/>
                    <a:p>
                      <a:pPr algn="r" rtl="1"/>
                      <a:r>
                        <a:rPr sz="1900" b="0">
                          <a:solidFill>
                            <a:srgbClr val="142633"/>
                          </a:solidFill>
                          <a:latin typeface="Arial"/>
                          <a:cs typeface="Arial"/>
                        </a:rPr>
                        <a:t>—</a:t>
                      </a:r>
                    </a:p>
                  </a:txBody>
                  <a:tcPr marL="118872" marR="118872" marT="54864" marB="36576" anchor="ctr">
                    <a:solidFill>
                      <a:srgbClr val="E5EDEA"/>
                    </a:solidFill>
                  </a:tcPr>
                </a:tc>
                <a:tc>
                  <a:txBody>
                    <a:bodyPr/>
                    <a:lstStyle/>
                    <a:p>
                      <a:pPr algn="r" rtl="1"/>
                      <a:r>
                        <a:rPr sz="1900" b="0">
                          <a:solidFill>
                            <a:srgbClr val="142633"/>
                          </a:solidFill>
                          <a:latin typeface="Arial"/>
                          <a:cs typeface="Arial"/>
                        </a:rPr>
                        <a:t>—</a:t>
                      </a:r>
                    </a:p>
                  </a:txBody>
                  <a:tcPr marL="118872" marR="118872" marT="54864" marB="36576" anchor="ctr">
                    <a:solidFill>
                      <a:srgbClr val="E5EDEA"/>
                    </a:solidFill>
                  </a:tcPr>
                </a:tc>
                <a:tc>
                  <a:txBody>
                    <a:bodyPr/>
                    <a:lstStyle/>
                    <a:p>
                      <a:pPr algn="r" rtl="1"/>
                      <a:r>
                        <a:rPr sz="1900" b="0">
                          <a:solidFill>
                            <a:srgbClr val="142633"/>
                          </a:solidFill>
                          <a:latin typeface="Arial"/>
                          <a:cs typeface="Arial"/>
                        </a:rPr>
                        <a:t>الحصص المكتملة</a:t>
                      </a:r>
                    </a:p>
                  </a:txBody>
                  <a:tcPr marL="118872" marR="118872" marT="54864" marB="36576" anchor="ctr">
                    <a:solidFill>
                      <a:srgbClr val="E5EDEA"/>
                    </a:solidFill>
                  </a:tcPr>
                </a:tc>
              </a:tr>
              <a:tr h="585216">
                <a:tc>
                  <a:txBody>
                    <a:bodyPr/>
                    <a:lstStyle/>
                    <a:p>
                      <a:pPr algn="r" rtl="1"/>
                      <a:r>
                        <a:rPr sz="1900" b="0">
                          <a:solidFill>
                            <a:srgbClr val="142633"/>
                          </a:solidFill>
                          <a:latin typeface="Arial"/>
                          <a:cs typeface="Arial"/>
                        </a:rPr>
                        <a:t>—</a:t>
                      </a:r>
                    </a:p>
                  </a:txBody>
                  <a:tcPr marL="118872" marR="118872" marT="54864" marB="36576" anchor="ctr">
                    <a:solidFill>
                      <a:srgbClr val="EDF2EF"/>
                    </a:solidFill>
                  </a:tcPr>
                </a:tc>
                <a:tc>
                  <a:txBody>
                    <a:bodyPr/>
                    <a:lstStyle/>
                    <a:p>
                      <a:pPr algn="r" rtl="1"/>
                      <a:r>
                        <a:rPr sz="1900" b="0">
                          <a:solidFill>
                            <a:srgbClr val="142633"/>
                          </a:solidFill>
                          <a:latin typeface="Arial"/>
                          <a:cs typeface="Arial"/>
                        </a:rPr>
                        <a:t>—</a:t>
                      </a:r>
                    </a:p>
                  </a:txBody>
                  <a:tcPr marL="118872" marR="118872" marT="54864" marB="36576" anchor="ctr">
                    <a:solidFill>
                      <a:srgbClr val="EDF2EF"/>
                    </a:solidFill>
                  </a:tcPr>
                </a:tc>
                <a:tc>
                  <a:txBody>
                    <a:bodyPr/>
                    <a:lstStyle/>
                    <a:p>
                      <a:pPr algn="r" rtl="1"/>
                      <a:r>
                        <a:rPr sz="1900" b="0">
                          <a:solidFill>
                            <a:srgbClr val="142633"/>
                          </a:solidFill>
                          <a:latin typeface="Arial"/>
                          <a:cs typeface="Arial"/>
                        </a:rPr>
                        <a:t>—</a:t>
                      </a:r>
                    </a:p>
                  </a:txBody>
                  <a:tcPr marL="118872" marR="118872" marT="54864" marB="36576" anchor="ctr">
                    <a:solidFill>
                      <a:srgbClr val="EDF2EF"/>
                    </a:solidFill>
                  </a:tcPr>
                </a:tc>
                <a:tc>
                  <a:txBody>
                    <a:bodyPr/>
                    <a:lstStyle/>
                    <a:p>
                      <a:pPr algn="r" rtl="1"/>
                      <a:r>
                        <a:rPr sz="1900" b="0">
                          <a:solidFill>
                            <a:srgbClr val="142633"/>
                          </a:solidFill>
                          <a:latin typeface="Arial"/>
                          <a:cs typeface="Arial"/>
                        </a:rPr>
                        <a:t>نسخة التمرين وتكراراته</a:t>
                      </a:r>
                    </a:p>
                  </a:txBody>
                  <a:tcPr marL="118872" marR="118872" marT="54864" marB="36576" anchor="ctr">
                    <a:solidFill>
                      <a:srgbClr val="EDF2EF"/>
                    </a:solidFill>
                  </a:tcPr>
                </a:tc>
              </a:tr>
              <a:tr h="585216">
                <a:tc>
                  <a:txBody>
                    <a:bodyPr/>
                    <a:lstStyle/>
                    <a:p>
                      <a:pPr algn="r" rtl="1"/>
                      <a:r>
                        <a:rPr sz="1900" b="0">
                          <a:solidFill>
                            <a:srgbClr val="142633"/>
                          </a:solidFill>
                          <a:latin typeface="Arial"/>
                          <a:cs typeface="Arial"/>
                        </a:rPr>
                        <a:t>—</a:t>
                      </a:r>
                    </a:p>
                  </a:txBody>
                  <a:tcPr marL="118872" marR="118872" marT="54864" marB="36576" anchor="ctr">
                    <a:solidFill>
                      <a:srgbClr val="E5EDEA"/>
                    </a:solidFill>
                  </a:tcPr>
                </a:tc>
                <a:tc>
                  <a:txBody>
                    <a:bodyPr/>
                    <a:lstStyle/>
                    <a:p>
                      <a:pPr algn="r" rtl="1"/>
                      <a:r>
                        <a:rPr sz="1900" b="0">
                          <a:solidFill>
                            <a:srgbClr val="142633"/>
                          </a:solidFill>
                          <a:latin typeface="Arial"/>
                          <a:cs typeface="Arial"/>
                        </a:rPr>
                        <a:t>—</a:t>
                      </a:r>
                    </a:p>
                  </a:txBody>
                  <a:tcPr marL="118872" marR="118872" marT="54864" marB="36576" anchor="ctr">
                    <a:solidFill>
                      <a:srgbClr val="E5EDEA"/>
                    </a:solidFill>
                  </a:tcPr>
                </a:tc>
                <a:tc>
                  <a:txBody>
                    <a:bodyPr/>
                    <a:lstStyle/>
                    <a:p>
                      <a:pPr algn="r" rtl="1"/>
                      <a:r>
                        <a:rPr sz="1900" b="0">
                          <a:solidFill>
                            <a:srgbClr val="142633"/>
                          </a:solidFill>
                          <a:latin typeface="Arial"/>
                          <a:cs typeface="Arial"/>
                        </a:rPr>
                        <a:t>—</a:t>
                      </a:r>
                    </a:p>
                  </a:txBody>
                  <a:tcPr marL="118872" marR="118872" marT="54864" marB="36576" anchor="ctr">
                    <a:solidFill>
                      <a:srgbClr val="E5EDEA"/>
                    </a:solidFill>
                  </a:tcPr>
                </a:tc>
                <a:tc>
                  <a:txBody>
                    <a:bodyPr/>
                    <a:lstStyle/>
                    <a:p>
                      <a:pPr algn="r" rtl="1"/>
                      <a:r>
                        <a:rPr sz="1900" b="0">
                          <a:solidFill>
                            <a:srgbClr val="142633"/>
                          </a:solidFill>
                          <a:latin typeface="Arial"/>
                          <a:cs typeface="Arial"/>
                        </a:rPr>
                        <a:t>جودة الحركة وأي أعراض</a:t>
                      </a:r>
                    </a:p>
                  </a:txBody>
                  <a:tcPr marL="118872" marR="118872" marT="54864" marB="36576" anchor="ctr">
                    <a:solidFill>
                      <a:srgbClr val="E5EDEA"/>
                    </a:solidFill>
                  </a:tcPr>
                </a:tc>
              </a:tr>
            </a:tbl>
          </a:graphicData>
        </a:graphic>
      </p:graphicFrame>
      <p:sp>
        <p:nvSpPr>
          <p:cNvPr id="12" name="Rounded Rectangle 11"/>
          <p:cNvSpPr/>
          <p:nvPr/>
        </p:nvSpPr>
        <p:spPr>
          <a:xfrm>
            <a:off x="640080" y="5522976"/>
            <a:ext cx="10881360" cy="420624"/>
          </a:xfrm>
          <a:prstGeom prst="roundRect">
            <a:avLst>
              <a:gd name="adj" fmla="val 12000"/>
            </a:avLst>
          </a:prstGeom>
          <a:solidFill>
            <a:srgbClr val="14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582412"/>
            <a:ext cx="10515600" cy="310896"/>
          </a:xfrm>
          <a:prstGeom prst="rect">
            <a:avLst/>
          </a:prstGeom>
          <a:noFill/>
        </p:spPr>
        <p:txBody>
          <a:bodyPr wrap="square" lIns="25400" rIns="25400" tIns="12700" bIns="12700">
            <a:spAutoFit/>
          </a:bodyPr>
          <a:lstStyle/>
          <a:p>
            <a:pPr algn="r" rtl="1">
              <a:spcAft>
                <a:spcPts val="400"/>
              </a:spcAft>
            </a:pPr>
            <a:r>
              <a:rPr sz="1600" b="1" lang="ar-DZ">
                <a:solidFill>
                  <a:srgbClr val="F5F7F4"/>
                </a:solidFill>
                <a:latin typeface="Arial"/>
                <a:cs typeface="Arial"/>
                <a:ea typeface="Arial"/>
              </a:rPr>
              <a:t>قارن في الظروف نفسها: النسخة والمدى والراحة. لا تخلط بين نسختين مختلفتين.</a:t>
            </a:r>
          </a:p>
        </p:txBody>
      </p:sp>
      <p:sp>
        <p:nvSpPr>
          <p:cNvPr id="14" name="TextBox 13"/>
          <p:cNvSpPr txBox="1"/>
          <p:nvPr/>
        </p:nvSpPr>
        <p:spPr>
          <a:xfrm>
            <a:off x="640080" y="6089904"/>
            <a:ext cx="10881360" cy="228600"/>
          </a:xfrm>
          <a:prstGeom prst="rect">
            <a:avLst/>
          </a:prstGeom>
          <a:noFill/>
        </p:spPr>
        <p:txBody>
          <a:bodyPr wrap="square" lIns="25400" rIns="25400" tIns="12700" bIns="12700">
            <a:spAutoFit/>
          </a:bodyPr>
          <a:lstStyle/>
          <a:p>
            <a:pPr algn="r" rtl="1">
              <a:spcAft>
                <a:spcPts val="400"/>
              </a:spcAft>
            </a:pPr>
            <a:r>
              <a:rPr sz="1000" b="0" lang="ar-DZ">
                <a:solidFill>
                  <a:srgbClr val="536975"/>
                </a:solidFill>
                <a:latin typeface="Arial"/>
                <a:cs typeface="Arial"/>
                <a:ea typeface="Arial"/>
              </a:rPr>
              <a:t>الخانات نموذج متابعة يُملأ ببيانات فعلية؛ ليست نتائج بحثية أو وعودًا بالأداء.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06 / الخلاصة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13 / 15</a:t>
            </a:r>
          </a:p>
        </p:txBody>
      </p:sp>
      <p:sp>
        <p:nvSpPr>
          <p:cNvPr id="8" name="Rectangle 7"/>
          <p:cNvSpPr/>
          <p:nvPr/>
        </p:nvSpPr>
        <p:spPr>
          <a:xfrm>
            <a:off x="548640" y="6803136"/>
            <a:ext cx="9589008"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الخلاصة: أتقن، وازن، ثم تقدّم</a:t>
            </a:r>
          </a:p>
        </p:txBody>
      </p:sp>
      <p:pic>
        <p:nvPicPr>
          <p:cNvPr id="10" name="Picture 9" descr="pushup.jpg"/>
          <p:cNvPicPr>
            <a:picLocks noChangeAspect="1"/>
          </p:cNvPicPr>
          <p:nvPr/>
        </p:nvPicPr>
        <p:blipFill>
          <a:blip r:embed="rId2"/>
          <a:srcRect t="10888" b="10888"/>
          <a:stretch>
            <a:fillRect/>
          </a:stretch>
        </p:blipFill>
        <p:spPr>
          <a:xfrm>
            <a:off x="640080" y="1865376"/>
            <a:ext cx="3502152" cy="4114800"/>
          </a:xfrm>
          <a:prstGeom prst="rect">
            <a:avLst/>
          </a:prstGeom>
        </p:spPr>
      </p:pic>
      <p:sp>
        <p:nvSpPr>
          <p:cNvPr id="11" name="TextBox 10"/>
          <p:cNvSpPr txBox="1"/>
          <p:nvPr/>
        </p:nvSpPr>
        <p:spPr>
          <a:xfrm>
            <a:off x="9363456" y="1938528"/>
            <a:ext cx="2075688" cy="475488"/>
          </a:xfrm>
          <a:prstGeom prst="rect">
            <a:avLst/>
          </a:prstGeom>
          <a:noFill/>
        </p:spPr>
        <p:txBody>
          <a:bodyPr wrap="square" lIns="25400" rIns="25400" tIns="12700" bIns="12700">
            <a:spAutoFit/>
          </a:bodyPr>
          <a:lstStyle/>
          <a:p>
            <a:pPr algn="r" rtl="1">
              <a:spcAft>
                <a:spcPts val="400"/>
              </a:spcAft>
            </a:pPr>
            <a:r>
              <a:rPr sz="3000" b="1" lang="ar-DZ">
                <a:solidFill>
                  <a:srgbClr val="49D3BC"/>
                </a:solidFill>
                <a:latin typeface="Arial"/>
                <a:cs typeface="Arial"/>
                <a:ea typeface="Arial"/>
              </a:rPr>
              <a:t>أتقن</a:t>
            </a:r>
          </a:p>
        </p:txBody>
      </p:sp>
      <p:sp>
        <p:nvSpPr>
          <p:cNvPr id="12" name="TextBox 11"/>
          <p:cNvSpPr txBox="1"/>
          <p:nvPr/>
        </p:nvSpPr>
        <p:spPr>
          <a:xfrm>
            <a:off x="4562856" y="2505456"/>
            <a:ext cx="6903720" cy="365760"/>
          </a:xfrm>
          <a:prstGeom prst="rect">
            <a:avLst/>
          </a:prstGeom>
          <a:noFill/>
        </p:spPr>
        <p:txBody>
          <a:bodyPr wrap="square" lIns="25400" rIns="25400" tIns="12700" bIns="12700">
            <a:spAutoFit/>
          </a:bodyPr>
          <a:lstStyle/>
          <a:p>
            <a:pPr algn="r" rtl="1">
              <a:spcAft>
                <a:spcPts val="400"/>
              </a:spcAft>
            </a:pPr>
            <a:r>
              <a:rPr sz="2100" b="0" lang="ar-DZ">
                <a:solidFill>
                  <a:srgbClr val="F5F7F4"/>
                </a:solidFill>
                <a:latin typeface="Arial"/>
                <a:cs typeface="Arial"/>
                <a:ea typeface="Arial"/>
              </a:rPr>
              <a:t>اختر نسخة مناسبة واحترم جودة الحركة.</a:t>
            </a:r>
          </a:p>
        </p:txBody>
      </p:sp>
      <p:sp>
        <p:nvSpPr>
          <p:cNvPr id="13" name="TextBox 12"/>
          <p:cNvSpPr txBox="1"/>
          <p:nvPr/>
        </p:nvSpPr>
        <p:spPr>
          <a:xfrm>
            <a:off x="9363456" y="3026664"/>
            <a:ext cx="2075688" cy="475488"/>
          </a:xfrm>
          <a:prstGeom prst="rect">
            <a:avLst/>
          </a:prstGeom>
          <a:noFill/>
        </p:spPr>
        <p:txBody>
          <a:bodyPr wrap="square" lIns="25400" rIns="25400" tIns="12700" bIns="12700">
            <a:spAutoFit/>
          </a:bodyPr>
          <a:lstStyle/>
          <a:p>
            <a:pPr algn="r" rtl="1">
              <a:spcAft>
                <a:spcPts val="400"/>
              </a:spcAft>
            </a:pPr>
            <a:r>
              <a:rPr sz="3000" b="1" lang="ar-DZ">
                <a:solidFill>
                  <a:srgbClr val="49D3BC"/>
                </a:solidFill>
                <a:latin typeface="Arial"/>
                <a:cs typeface="Arial"/>
                <a:ea typeface="Arial"/>
              </a:rPr>
              <a:t>وازن</a:t>
            </a:r>
          </a:p>
        </p:txBody>
      </p:sp>
      <p:sp>
        <p:nvSpPr>
          <p:cNvPr id="14" name="TextBox 13"/>
          <p:cNvSpPr txBox="1"/>
          <p:nvPr/>
        </p:nvSpPr>
        <p:spPr>
          <a:xfrm>
            <a:off x="4562856" y="3593592"/>
            <a:ext cx="6903720" cy="365760"/>
          </a:xfrm>
          <a:prstGeom prst="rect">
            <a:avLst/>
          </a:prstGeom>
          <a:noFill/>
        </p:spPr>
        <p:txBody>
          <a:bodyPr wrap="square" lIns="25400" rIns="25400" tIns="12700" bIns="12700">
            <a:spAutoFit/>
          </a:bodyPr>
          <a:lstStyle/>
          <a:p>
            <a:pPr algn="r" rtl="1">
              <a:spcAft>
                <a:spcPts val="400"/>
              </a:spcAft>
            </a:pPr>
            <a:r>
              <a:rPr sz="2100" b="0" lang="ar-DZ">
                <a:solidFill>
                  <a:srgbClr val="F5F7F4"/>
                </a:solidFill>
                <a:latin typeface="Arial"/>
                <a:cs typeface="Arial"/>
                <a:ea typeface="Arial"/>
              </a:rPr>
              <a:t>دفع وسحب ورجلان وجذع… مع تعافٍ كافٍ.</a:t>
            </a:r>
          </a:p>
        </p:txBody>
      </p:sp>
      <p:sp>
        <p:nvSpPr>
          <p:cNvPr id="15" name="TextBox 14"/>
          <p:cNvSpPr txBox="1"/>
          <p:nvPr/>
        </p:nvSpPr>
        <p:spPr>
          <a:xfrm>
            <a:off x="9363456" y="4114800"/>
            <a:ext cx="2075688" cy="475488"/>
          </a:xfrm>
          <a:prstGeom prst="rect">
            <a:avLst/>
          </a:prstGeom>
          <a:noFill/>
        </p:spPr>
        <p:txBody>
          <a:bodyPr wrap="square" lIns="25400" rIns="25400" tIns="12700" bIns="12700">
            <a:spAutoFit/>
          </a:bodyPr>
          <a:lstStyle/>
          <a:p>
            <a:pPr algn="r" rtl="1">
              <a:spcAft>
                <a:spcPts val="400"/>
              </a:spcAft>
            </a:pPr>
            <a:r>
              <a:rPr sz="3000" b="1" lang="ar-DZ">
                <a:solidFill>
                  <a:srgbClr val="49D3BC"/>
                </a:solidFill>
                <a:latin typeface="Arial"/>
                <a:cs typeface="Arial"/>
                <a:ea typeface="Arial"/>
              </a:rPr>
              <a:t>استمر</a:t>
            </a:r>
          </a:p>
        </p:txBody>
      </p:sp>
      <p:sp>
        <p:nvSpPr>
          <p:cNvPr id="16" name="TextBox 15"/>
          <p:cNvSpPr txBox="1"/>
          <p:nvPr/>
        </p:nvSpPr>
        <p:spPr>
          <a:xfrm>
            <a:off x="4562856" y="4681728"/>
            <a:ext cx="6903720" cy="365760"/>
          </a:xfrm>
          <a:prstGeom prst="rect">
            <a:avLst/>
          </a:prstGeom>
          <a:noFill/>
        </p:spPr>
        <p:txBody>
          <a:bodyPr wrap="square" lIns="25400" rIns="25400" tIns="12700" bIns="12700">
            <a:spAutoFit/>
          </a:bodyPr>
          <a:lstStyle/>
          <a:p>
            <a:pPr algn="r" rtl="1">
              <a:spcAft>
                <a:spcPts val="400"/>
              </a:spcAft>
            </a:pPr>
            <a:r>
              <a:rPr sz="2100" b="0" lang="ar-DZ">
                <a:solidFill>
                  <a:srgbClr val="F5F7F4"/>
                </a:solidFill>
                <a:latin typeface="Arial"/>
                <a:cs typeface="Arial"/>
                <a:ea typeface="Arial"/>
              </a:rPr>
              <a:t>سجّل أداءك وارفع الحمل تدريجيًا.</a:t>
            </a:r>
          </a:p>
        </p:txBody>
      </p:sp>
      <p:sp>
        <p:nvSpPr>
          <p:cNvPr id="17" name="TextBox 16"/>
          <p:cNvSpPr txBox="1"/>
          <p:nvPr/>
        </p:nvSpPr>
        <p:spPr>
          <a:xfrm>
            <a:off x="4517136" y="5614416"/>
            <a:ext cx="6949440" cy="365760"/>
          </a:xfrm>
          <a:prstGeom prst="rect">
            <a:avLst/>
          </a:prstGeom>
          <a:noFill/>
        </p:spPr>
        <p:txBody>
          <a:bodyPr wrap="square" lIns="25400" rIns="25400" tIns="12700" bIns="12700">
            <a:spAutoFit/>
          </a:bodyPr>
          <a:lstStyle/>
          <a:p>
            <a:pPr algn="r" rtl="1">
              <a:spcAft>
                <a:spcPts val="400"/>
              </a:spcAft>
            </a:pPr>
            <a:r>
              <a:rPr sz="2000" b="1" lang="ar-DZ">
                <a:solidFill>
                  <a:srgbClr val="EDAD66"/>
                </a:solidFill>
                <a:latin typeface="Arial"/>
                <a:cs typeface="Arial"/>
                <a:ea typeface="Arial"/>
              </a:rPr>
              <a:t>خطوتك التالية: حدّد موعد حصتين هذا الأسبوع.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مساحة للنقاش</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14 / 15</a:t>
            </a:r>
          </a:p>
        </p:txBody>
      </p:sp>
      <p:sp>
        <p:nvSpPr>
          <p:cNvPr id="8" name="Rectangle 7"/>
          <p:cNvSpPr/>
          <p:nvPr/>
        </p:nvSpPr>
        <p:spPr>
          <a:xfrm>
            <a:off x="548640" y="6803136"/>
            <a:ext cx="10326624"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941832"/>
            <a:ext cx="10881360" cy="713232"/>
          </a:xfrm>
          <a:prstGeom prst="rect">
            <a:avLst/>
          </a:prstGeom>
          <a:noFill/>
        </p:spPr>
        <p:txBody>
          <a:bodyPr wrap="square" lIns="25400" rIns="25400" tIns="12700" bIns="12700">
            <a:spAutoFit/>
          </a:bodyPr>
          <a:lstStyle/>
          <a:p>
            <a:pPr algn="r" rtl="1">
              <a:spcAft>
                <a:spcPts val="400"/>
              </a:spcAft>
            </a:pPr>
            <a:r>
              <a:rPr sz="3100" b="1" lang="ar-DZ">
                <a:solidFill>
                  <a:srgbClr val="F5F7F4"/>
                </a:solidFill>
                <a:latin typeface="Arial"/>
                <a:cs typeface="Arial"/>
                <a:ea typeface="Arial"/>
              </a:rPr>
              <a:t>الأسئلة والنقاش</a:t>
            </a:r>
          </a:p>
        </p:txBody>
      </p:sp>
      <p:pic>
        <p:nvPicPr>
          <p:cNvPr id="10" name="Picture 9" descr="pullup.jpg"/>
          <p:cNvPicPr>
            <a:picLocks noChangeAspect="1"/>
          </p:cNvPicPr>
          <p:nvPr/>
        </p:nvPicPr>
        <p:blipFill>
          <a:blip r:embed="rId2"/>
          <a:srcRect t="2396" b="2396"/>
          <a:stretch>
            <a:fillRect/>
          </a:stretch>
        </p:blipFill>
        <p:spPr>
          <a:xfrm>
            <a:off x="640080" y="1856231"/>
            <a:ext cx="2862072" cy="4087368"/>
          </a:xfrm>
          <a:prstGeom prst="rect">
            <a:avLst/>
          </a:prstGeom>
        </p:spPr>
      </p:pic>
      <p:sp>
        <p:nvSpPr>
          <p:cNvPr id="11" name="Rounded Rectangle 10"/>
          <p:cNvSpPr/>
          <p:nvPr/>
        </p:nvSpPr>
        <p:spPr>
          <a:xfrm>
            <a:off x="3831336" y="2002536"/>
            <a:ext cx="7680960" cy="896112"/>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08208" y="2185416"/>
            <a:ext cx="457200" cy="420624"/>
          </a:xfrm>
          <a:prstGeom prst="rect">
            <a:avLst/>
          </a:prstGeom>
          <a:noFill/>
        </p:spPr>
        <p:txBody>
          <a:bodyPr wrap="square" lIns="25400" rIns="25400" tIns="12700" bIns="12700">
            <a:spAutoFit/>
          </a:bodyPr>
          <a:lstStyle/>
          <a:p>
            <a:pPr algn="ctr" rtl="1">
              <a:spcAft>
                <a:spcPts val="400"/>
              </a:spcAft>
            </a:pPr>
            <a:r>
              <a:rPr sz="3000" b="1" lang="ar-DZ">
                <a:solidFill>
                  <a:srgbClr val="49D3BC"/>
                </a:solidFill>
                <a:latin typeface="Arial"/>
                <a:cs typeface="Arial"/>
                <a:ea typeface="Arial"/>
              </a:rPr>
              <a:t>؟</a:t>
            </a:r>
          </a:p>
        </p:txBody>
      </p:sp>
      <p:sp>
        <p:nvSpPr>
          <p:cNvPr id="13" name="TextBox 12"/>
          <p:cNvSpPr txBox="1"/>
          <p:nvPr/>
        </p:nvSpPr>
        <p:spPr>
          <a:xfrm>
            <a:off x="4069080" y="2176272"/>
            <a:ext cx="6446520" cy="621792"/>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ما أول هدف واقعي يناسب مستواك الحالي؟</a:t>
            </a:r>
          </a:p>
        </p:txBody>
      </p:sp>
      <p:sp>
        <p:nvSpPr>
          <p:cNvPr id="14" name="Rounded Rectangle 13"/>
          <p:cNvSpPr/>
          <p:nvPr/>
        </p:nvSpPr>
        <p:spPr>
          <a:xfrm>
            <a:off x="3831336" y="3118104"/>
            <a:ext cx="7680960" cy="896112"/>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08208" y="3300984"/>
            <a:ext cx="457200" cy="420624"/>
          </a:xfrm>
          <a:prstGeom prst="rect">
            <a:avLst/>
          </a:prstGeom>
          <a:noFill/>
        </p:spPr>
        <p:txBody>
          <a:bodyPr wrap="square" lIns="25400" rIns="25400" tIns="12700" bIns="12700">
            <a:spAutoFit/>
          </a:bodyPr>
          <a:lstStyle/>
          <a:p>
            <a:pPr algn="ctr" rtl="1">
              <a:spcAft>
                <a:spcPts val="400"/>
              </a:spcAft>
            </a:pPr>
            <a:r>
              <a:rPr sz="3000" b="1" lang="ar-DZ">
                <a:solidFill>
                  <a:srgbClr val="49D3BC"/>
                </a:solidFill>
                <a:latin typeface="Arial"/>
                <a:cs typeface="Arial"/>
                <a:ea typeface="Arial"/>
              </a:rPr>
              <a:t>؟</a:t>
            </a:r>
          </a:p>
        </p:txBody>
      </p:sp>
      <p:sp>
        <p:nvSpPr>
          <p:cNvPr id="16" name="TextBox 15"/>
          <p:cNvSpPr txBox="1"/>
          <p:nvPr/>
        </p:nvSpPr>
        <p:spPr>
          <a:xfrm>
            <a:off x="4069080" y="3291840"/>
            <a:ext cx="6446520" cy="621792"/>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أي تمرين يحتاج إلى نسخة أسهل لديك؟</a:t>
            </a:r>
          </a:p>
        </p:txBody>
      </p:sp>
      <p:sp>
        <p:nvSpPr>
          <p:cNvPr id="17" name="Rounded Rectangle 16"/>
          <p:cNvSpPr/>
          <p:nvPr/>
        </p:nvSpPr>
        <p:spPr>
          <a:xfrm>
            <a:off x="3831336" y="4233672"/>
            <a:ext cx="7680960" cy="896112"/>
          </a:xfrm>
          <a:prstGeom prst="roundRect">
            <a:avLst>
              <a:gd name="adj" fmla="val 12000"/>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08208" y="4416552"/>
            <a:ext cx="457200" cy="420624"/>
          </a:xfrm>
          <a:prstGeom prst="rect">
            <a:avLst/>
          </a:prstGeom>
          <a:noFill/>
        </p:spPr>
        <p:txBody>
          <a:bodyPr wrap="square" lIns="25400" rIns="25400" tIns="12700" bIns="12700">
            <a:spAutoFit/>
          </a:bodyPr>
          <a:lstStyle/>
          <a:p>
            <a:pPr algn="ctr" rtl="1">
              <a:spcAft>
                <a:spcPts val="400"/>
              </a:spcAft>
            </a:pPr>
            <a:r>
              <a:rPr sz="3000" b="1" lang="ar-DZ">
                <a:solidFill>
                  <a:srgbClr val="49D3BC"/>
                </a:solidFill>
                <a:latin typeface="Arial"/>
                <a:cs typeface="Arial"/>
                <a:ea typeface="Arial"/>
              </a:rPr>
              <a:t>؟</a:t>
            </a:r>
          </a:p>
        </p:txBody>
      </p:sp>
      <p:sp>
        <p:nvSpPr>
          <p:cNvPr id="19" name="TextBox 18"/>
          <p:cNvSpPr txBox="1"/>
          <p:nvPr/>
        </p:nvSpPr>
        <p:spPr>
          <a:xfrm>
            <a:off x="4069080" y="4407408"/>
            <a:ext cx="6446520" cy="621792"/>
          </a:xfrm>
          <a:prstGeom prst="rect">
            <a:avLst/>
          </a:prstGeom>
          <a:noFill/>
        </p:spPr>
        <p:txBody>
          <a:bodyPr wrap="square" lIns="25400" rIns="25400" tIns="12700" bIns="12700">
            <a:spAutoFit/>
          </a:bodyPr>
          <a:lstStyle/>
          <a:p>
            <a:pPr algn="r" rtl="1">
              <a:spcAft>
                <a:spcPts val="400"/>
              </a:spcAft>
            </a:pPr>
            <a:r>
              <a:rPr sz="2000" b="0" lang="ar-DZ">
                <a:solidFill>
                  <a:srgbClr val="F5F7F4"/>
                </a:solidFill>
                <a:latin typeface="Arial"/>
                <a:cs typeface="Arial"/>
                <a:ea typeface="Arial"/>
              </a:rPr>
              <a:t>كيف ستوازن التدريب مع الراحة والنشاط الهوائي؟</a:t>
            </a:r>
          </a:p>
        </p:txBody>
      </p:sp>
      <p:sp>
        <p:nvSpPr>
          <p:cNvPr id="20" name="TextBox 19"/>
          <p:cNvSpPr txBox="1"/>
          <p:nvPr/>
        </p:nvSpPr>
        <p:spPr>
          <a:xfrm>
            <a:off x="4087368" y="5705856"/>
            <a:ext cx="7223760" cy="301752"/>
          </a:xfrm>
          <a:prstGeom prst="rect">
            <a:avLst/>
          </a:prstGeom>
          <a:noFill/>
        </p:spPr>
        <p:txBody>
          <a:bodyPr wrap="square" lIns="25400" rIns="25400" tIns="12700" bIns="12700">
            <a:spAutoFit/>
          </a:bodyPr>
          <a:lstStyle/>
          <a:p>
            <a:pPr algn="r" rtl="1">
              <a:spcAft>
                <a:spcPts val="400"/>
              </a:spcAft>
            </a:pPr>
            <a:r>
              <a:rPr sz="1700" b="0" lang="ar-DZ">
                <a:solidFill>
                  <a:srgbClr val="AFC0C7"/>
                </a:solidFill>
                <a:latin typeface="Arial"/>
                <a:cs typeface="Arial"/>
                <a:ea typeface="Arial"/>
              </a:rPr>
              <a:t>فكّر في قرار واحد يمكنك تطبيقه، لا في حركة تستعرضها.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E2A"/>
        </a:solidFill>
        <a:effectLst/>
      </p:bgPr>
    </p:bg>
    <p:spTree>
      <p:nvGrpSpPr>
        <p:cNvPr id="1" name=""/>
        <p:cNvGrpSpPr/>
        <p:nvPr/>
      </p:nvGrpSpPr>
      <p:grpSpPr/>
      <p:sp>
        <p:nvSpPr>
          <p:cNvPr id="2" name="Rectangle 1"/>
          <p:cNvSpPr/>
          <p:nvPr/>
        </p:nvSpPr>
        <p:spPr>
          <a:xfrm>
            <a:off x="11457432" y="420624"/>
            <a:ext cx="137160" cy="320040"/>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0" y="420624"/>
            <a:ext cx="5760720" cy="274320"/>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شكرًا • مصادر مختارة</a:t>
            </a:r>
          </a:p>
        </p:txBody>
      </p:sp>
      <p:sp>
        <p:nvSpPr>
          <p:cNvPr id="4" name="TextBox 3"/>
          <p:cNvSpPr txBox="1"/>
          <p:nvPr/>
        </p:nvSpPr>
        <p:spPr>
          <a:xfrm>
            <a:off x="548640" y="411480"/>
            <a:ext cx="2743200" cy="274320"/>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CALISTHENICS / FIELD GUIDE</a:t>
            </a:r>
          </a:p>
        </p:txBody>
      </p:sp>
      <p:sp>
        <p:nvSpPr>
          <p:cNvPr id="5" name="Rectangle 4"/>
          <p:cNvSpPr/>
          <p:nvPr/>
        </p:nvSpPr>
        <p:spPr>
          <a:xfrm>
            <a:off x="548640" y="6419088"/>
            <a:ext cx="11064240" cy="10972"/>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0" y="6519672"/>
            <a:ext cx="1828800" cy="210312"/>
          </a:xfrm>
          <a:prstGeom prst="rect">
            <a:avLst/>
          </a:prstGeom>
          <a:noFill/>
        </p:spPr>
        <p:txBody>
          <a:bodyPr wrap="square" lIns="25400" rIns="25400" tIns="12700" bIns="12700">
            <a:spAutoFit/>
          </a:bodyPr>
          <a:lstStyle/>
          <a:p>
            <a:pPr algn="r" rtl="1">
              <a:spcAft>
                <a:spcPts val="400"/>
              </a:spcAft>
            </a:pPr>
            <a:r>
              <a:rPr sz="900" b="0" lang="ar-DZ">
                <a:solidFill>
                  <a:srgbClr val="AFC0C7"/>
                </a:solidFill>
                <a:latin typeface="Arial"/>
                <a:cs typeface="Arial"/>
                <a:ea typeface="Arial"/>
              </a:rPr>
              <a:t>قوة • تحكّم • استمرارية</a:t>
            </a:r>
          </a:p>
        </p:txBody>
      </p:sp>
      <p:sp>
        <p:nvSpPr>
          <p:cNvPr id="7" name="TextBox 6"/>
          <p:cNvSpPr txBox="1"/>
          <p:nvPr/>
        </p:nvSpPr>
        <p:spPr>
          <a:xfrm>
            <a:off x="548640" y="6510528"/>
            <a:ext cx="1188720" cy="210312"/>
          </a:xfrm>
          <a:prstGeom prst="rect">
            <a:avLst/>
          </a:prstGeom>
          <a:noFill/>
        </p:spPr>
        <p:txBody>
          <a:bodyPr wrap="square" lIns="25400" rIns="25400" tIns="12700" bIns="12700">
            <a:spAutoFit/>
          </a:bodyPr>
          <a:lstStyle/>
          <a:p>
            <a:pPr algn="l" rtl="0">
              <a:spcAft>
                <a:spcPts val="400"/>
              </a:spcAft>
            </a:pPr>
            <a:r>
              <a:rPr sz="1000" b="0" lang="en-US">
                <a:solidFill>
                  <a:srgbClr val="AFC0C7"/>
                </a:solidFill>
                <a:latin typeface="Arial"/>
                <a:cs typeface="Arial"/>
                <a:ea typeface="Arial"/>
              </a:rPr>
              <a:t>15 / 15</a:t>
            </a:r>
          </a:p>
        </p:txBody>
      </p:sp>
      <p:sp>
        <p:nvSpPr>
          <p:cNvPr id="8" name="Rectangle 7"/>
          <p:cNvSpPr/>
          <p:nvPr/>
        </p:nvSpPr>
        <p:spPr>
          <a:xfrm>
            <a:off x="548640" y="6803136"/>
            <a:ext cx="11064240" cy="41148"/>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ushup.jpg"/>
          <p:cNvPicPr>
            <a:picLocks noChangeAspect="1"/>
          </p:cNvPicPr>
          <p:nvPr/>
        </p:nvPicPr>
        <p:blipFill>
          <a:blip r:embed="rId2"/>
          <a:srcRect l="184" r="184"/>
          <a:stretch>
            <a:fillRect/>
          </a:stretch>
        </p:blipFill>
        <p:spPr>
          <a:xfrm>
            <a:off x="0" y="0"/>
            <a:ext cx="4233672" cy="6382512"/>
          </a:xfrm>
          <a:prstGeom prst="rect">
            <a:avLst/>
          </a:prstGeom>
        </p:spPr>
      </p:pic>
      <p:sp>
        <p:nvSpPr>
          <p:cNvPr id="10" name="Rectangle 9"/>
          <p:cNvSpPr/>
          <p:nvPr/>
        </p:nvSpPr>
        <p:spPr>
          <a:xfrm>
            <a:off x="4233672" y="0"/>
            <a:ext cx="64008" cy="6382512"/>
          </a:xfrm>
          <a:prstGeom prst="rect">
            <a:avLst/>
          </a:prstGeom>
          <a:solidFill>
            <a:srgbClr val="49D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2312" y="1472184"/>
            <a:ext cx="6702552" cy="923544"/>
          </a:xfrm>
          <a:prstGeom prst="rect">
            <a:avLst/>
          </a:prstGeom>
          <a:noFill/>
        </p:spPr>
        <p:txBody>
          <a:bodyPr wrap="square" lIns="25400" rIns="25400" tIns="12700" bIns="12700">
            <a:spAutoFit/>
          </a:bodyPr>
          <a:lstStyle/>
          <a:p>
            <a:pPr algn="r" rtl="1">
              <a:spcAft>
                <a:spcPts val="400"/>
              </a:spcAft>
            </a:pPr>
            <a:r>
              <a:rPr sz="4000" b="1" lang="ar-DZ">
                <a:solidFill>
                  <a:srgbClr val="F5F7F4"/>
                </a:solidFill>
                <a:latin typeface="Arial"/>
                <a:cs typeface="Arial"/>
                <a:ea typeface="Arial"/>
              </a:rPr>
              <a:t>شكرًا لحسن المتابعة</a:t>
            </a:r>
          </a:p>
        </p:txBody>
      </p:sp>
      <p:sp>
        <p:nvSpPr>
          <p:cNvPr id="12" name="TextBox 11"/>
          <p:cNvSpPr txBox="1"/>
          <p:nvPr/>
        </p:nvSpPr>
        <p:spPr>
          <a:xfrm>
            <a:off x="4846320" y="2734056"/>
            <a:ext cx="6583680" cy="630936"/>
          </a:xfrm>
          <a:prstGeom prst="rect">
            <a:avLst/>
          </a:prstGeom>
          <a:noFill/>
        </p:spPr>
        <p:txBody>
          <a:bodyPr wrap="square" lIns="25400" rIns="25400" tIns="12700" bIns="12700">
            <a:spAutoFit/>
          </a:bodyPr>
          <a:lstStyle/>
          <a:p>
            <a:pPr algn="r" rtl="1">
              <a:spcAft>
                <a:spcPts val="400"/>
              </a:spcAft>
            </a:pPr>
            <a:r>
              <a:rPr sz="2700" b="0" lang="ar-DZ">
                <a:solidFill>
                  <a:srgbClr val="49D3BC"/>
                </a:solidFill>
                <a:latin typeface="Arial"/>
                <a:cs typeface="Arial"/>
                <a:ea typeface="Arial"/>
              </a:rPr>
              <a:t>قوّتك تُبنى… تكرارًا بعد تكرار.</a:t>
            </a:r>
          </a:p>
        </p:txBody>
      </p:sp>
      <p:sp>
        <p:nvSpPr>
          <p:cNvPr id="13" name="Rectangle 12"/>
          <p:cNvSpPr/>
          <p:nvPr/>
        </p:nvSpPr>
        <p:spPr>
          <a:xfrm>
            <a:off x="4937760" y="3803904"/>
            <a:ext cx="6492240" cy="22860"/>
          </a:xfrm>
          <a:prstGeom prst="rect">
            <a:avLst/>
          </a:prstGeom>
          <a:solidFill>
            <a:srgbClr val="1B2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4069080"/>
            <a:ext cx="6492240" cy="365760"/>
          </a:xfrm>
          <a:prstGeom prst="rect">
            <a:avLst/>
          </a:prstGeom>
          <a:noFill/>
        </p:spPr>
        <p:txBody>
          <a:bodyPr wrap="square" lIns="25400" rIns="25400" tIns="12700" bIns="12700">
            <a:spAutoFit/>
          </a:bodyPr>
          <a:lstStyle/>
          <a:p>
            <a:pPr algn="r" rtl="1">
              <a:spcAft>
                <a:spcPts val="400"/>
              </a:spcAft>
            </a:pPr>
            <a:r>
              <a:rPr sz="1900" b="1" lang="ar-DZ">
                <a:solidFill>
                  <a:srgbClr val="F5F7F4"/>
                </a:solidFill>
                <a:latin typeface="Arial"/>
                <a:cs typeface="Arial"/>
                <a:ea typeface="Arial"/>
              </a:rPr>
              <a:t>مراجع مختارة</a:t>
            </a:r>
          </a:p>
        </p:txBody>
      </p:sp>
      <p:sp>
        <p:nvSpPr>
          <p:cNvPr id="15" name="TextBox 14"/>
          <p:cNvSpPr txBox="1"/>
          <p:nvPr/>
        </p:nvSpPr>
        <p:spPr>
          <a:xfrm>
            <a:off x="4937760" y="4608576"/>
            <a:ext cx="6492240" cy="365760"/>
          </a:xfrm>
          <a:prstGeom prst="rect">
            <a:avLst/>
          </a:prstGeom>
          <a:noFill/>
        </p:spPr>
        <p:txBody>
          <a:bodyPr wrap="square" lIns="25400" rIns="25400" tIns="12700" bIns="12700">
            <a:spAutoFit/>
          </a:bodyPr>
          <a:lstStyle/>
          <a:p>
            <a:pPr algn="r" rtl="1">
              <a:spcAft>
                <a:spcPts val="400"/>
              </a:spcAft>
            </a:pPr>
            <a:r>
              <a:rPr sz="1700" b="0" lang="ar-DZ">
                <a:solidFill>
                  <a:srgbClr val="AFC0C7"/>
                </a:solidFill>
                <a:latin typeface="Arial"/>
                <a:cs typeface="Arial"/>
                <a:ea typeface="Arial"/>
                <a:hlinkClick r:id="rId3"/>
              </a:rPr>
              <a:t>WHO • إرشادات النشاط البدني، 2020</a:t>
            </a:r>
          </a:p>
        </p:txBody>
      </p:sp>
      <p:sp>
        <p:nvSpPr>
          <p:cNvPr id="16" name="TextBox 15"/>
          <p:cNvSpPr txBox="1"/>
          <p:nvPr/>
        </p:nvSpPr>
        <p:spPr>
          <a:xfrm>
            <a:off x="4937760" y="5093208"/>
            <a:ext cx="6492240" cy="365760"/>
          </a:xfrm>
          <a:prstGeom prst="rect">
            <a:avLst/>
          </a:prstGeom>
          <a:noFill/>
        </p:spPr>
        <p:txBody>
          <a:bodyPr wrap="square" lIns="25400" rIns="25400" tIns="12700" bIns="12700">
            <a:spAutoFit/>
          </a:bodyPr>
          <a:lstStyle/>
          <a:p>
            <a:pPr algn="r" rtl="1">
              <a:spcAft>
                <a:spcPts val="400"/>
              </a:spcAft>
            </a:pPr>
            <a:r>
              <a:rPr sz="1700" b="0" lang="ar-DZ">
                <a:solidFill>
                  <a:srgbClr val="AFC0C7"/>
                </a:solidFill>
                <a:latin typeface="Arial"/>
                <a:cs typeface="Arial"/>
                <a:ea typeface="Arial"/>
                <a:hlinkClick r:id="rId4"/>
              </a:rPr>
              <a:t>Thomas et al. • دراسة الكاليسثنيكس، 2017</a:t>
            </a:r>
          </a:p>
        </p:txBody>
      </p:sp>
      <p:sp>
        <p:nvSpPr>
          <p:cNvPr id="17" name="TextBox 16"/>
          <p:cNvSpPr txBox="1"/>
          <p:nvPr/>
        </p:nvSpPr>
        <p:spPr>
          <a:xfrm>
            <a:off x="4937760" y="5696712"/>
            <a:ext cx="6492240" cy="393192"/>
          </a:xfrm>
          <a:prstGeom prst="rect">
            <a:avLst/>
          </a:prstGeom>
          <a:noFill/>
        </p:spPr>
        <p:txBody>
          <a:bodyPr wrap="square" lIns="25400" rIns="25400" tIns="12700" bIns="12700">
            <a:spAutoFit/>
          </a:bodyPr>
          <a:lstStyle/>
          <a:p>
            <a:pPr algn="r" rtl="1">
              <a:spcAft>
                <a:spcPts val="400"/>
              </a:spcAft>
            </a:pPr>
            <a:r>
              <a:rPr sz="1200" b="0" lang="ar-DZ">
                <a:solidFill>
                  <a:srgbClr val="AFC0C7"/>
                </a:solidFill>
                <a:latin typeface="Arial"/>
                <a:cs typeface="Arial"/>
                <a:ea typeface="Arial"/>
              </a:rPr>
              <a:t>الصور: Pexels | التفاصيل والروابط في الملاحظات ودليل العرض</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الكاليسثنيكس | دليل شامل</dc:title>
  <dc:subject>تدريب وزن الجسم: الأساسيات والتدرج والسلامة</dc:subject>
  <dc:creator>[اسم مقدم العرض]</dc:creator>
  <cp:keywords>Calisthenics, Arabic, Fitness, Bodyweight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